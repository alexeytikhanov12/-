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8" r:id="rId9"/>
    <p:sldId id="264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65" r:id="rId19"/>
    <p:sldId id="277" r:id="rId20"/>
    <p:sldId id="266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67" r:id="rId30"/>
    <p:sldId id="261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81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F8407-D368-4E2B-8FFE-0BBEFFE9EACC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759F3-CDAC-4E39-9B8F-1914F13B55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3447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F8407-D368-4E2B-8FFE-0BBEFFE9EACC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759F3-CDAC-4E39-9B8F-1914F13B55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0349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F8407-D368-4E2B-8FFE-0BBEFFE9EACC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759F3-CDAC-4E39-9B8F-1914F13B55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4808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F8407-D368-4E2B-8FFE-0BBEFFE9EACC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759F3-CDAC-4E39-9B8F-1914F13B55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0749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F8407-D368-4E2B-8FFE-0BBEFFE9EACC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759F3-CDAC-4E39-9B8F-1914F13B55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8675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F8407-D368-4E2B-8FFE-0BBEFFE9EACC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759F3-CDAC-4E39-9B8F-1914F13B55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2489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F8407-D368-4E2B-8FFE-0BBEFFE9EACC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759F3-CDAC-4E39-9B8F-1914F13B55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3256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F8407-D368-4E2B-8FFE-0BBEFFE9EACC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759F3-CDAC-4E39-9B8F-1914F13B55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8450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F7EF8407-D368-4E2B-8FFE-0BBEFFE9EACC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BDF759F3-CDAC-4E39-9B8F-1914F13B55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553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F8407-D368-4E2B-8FFE-0BBEFFE9EACC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759F3-CDAC-4E39-9B8F-1914F13B55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8949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F8407-D368-4E2B-8FFE-0BBEFFE9EACC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759F3-CDAC-4E39-9B8F-1914F13B55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57264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F8407-D368-4E2B-8FFE-0BBEFFE9EACC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759F3-CDAC-4E39-9B8F-1914F13B55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54005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F8407-D368-4E2B-8FFE-0BBEFFE9EACC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759F3-CDAC-4E39-9B8F-1914F13B55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41586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F8407-D368-4E2B-8FFE-0BBEFFE9EACC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759F3-CDAC-4E39-9B8F-1914F13B55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214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F7EF8407-D368-4E2B-8FFE-0BBEFFE9EACC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BDF759F3-CDAC-4E39-9B8F-1914F13B55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64865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2C23BB-3810-869D-4E44-E6449213E0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Система учёта курсов и учебных планов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6006A11-B254-341A-3D74-9149F01445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1698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3809BE-F465-B4FB-43EE-D48EAB135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и задачи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F7361C-FA91-AEEB-0756-9F091296C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</a:t>
            </a:r>
            <a:r>
              <a:rPr lang="ru-RU" dirty="0"/>
              <a:t>)</a:t>
            </a:r>
            <a:r>
              <a:rPr lang="en-US" dirty="0"/>
              <a:t> </a:t>
            </a:r>
            <a:r>
              <a:rPr lang="ru-RU" dirty="0"/>
              <a:t>Автоматизация управления учебными планами по направлениям подготовки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2) Обеспечение актуальности и прослеживаемости изменений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712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565962-523D-FC85-B6D1-3721C08A7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277042-457A-2118-332F-A31A0A1B5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1) Разработка модульной системы ведения, просмотра и поиска планов и дисциплин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2) Ведение версий планов, архивация устаревших планов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03489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5A3135-D3AD-33C3-406A-C86F2F6C2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Роли пользователей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9855AE-CA19-DE93-127D-35A3298EF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Система</a:t>
            </a:r>
            <a:r>
              <a:rPr lang="ru-RU" dirty="0"/>
              <a:t> — автоматизация процессов</a:t>
            </a:r>
          </a:p>
          <a:p>
            <a:r>
              <a:rPr lang="ru-RU" b="1" dirty="0"/>
              <a:t>Администратор</a:t>
            </a:r>
            <a:r>
              <a:rPr lang="ru-RU" dirty="0"/>
              <a:t> — настройка и поддержка системы</a:t>
            </a:r>
          </a:p>
          <a:p>
            <a:r>
              <a:rPr lang="ru-RU" b="1" dirty="0"/>
              <a:t>Пользователь</a:t>
            </a:r>
            <a:r>
              <a:rPr lang="ru-RU" dirty="0"/>
              <a:t> — управление планами и дисциплинами (методист, учебный отдел)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52918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75D290-83F8-493A-076B-E1E797ECA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/>
              <a:t>Основные функциональные требования</a:t>
            </a:r>
            <a:br>
              <a:rPr lang="ru-RU" sz="3200" dirty="0"/>
            </a:br>
            <a:endParaRPr lang="ru-RU" sz="3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EAD070-7135-10AB-5118-7E27959E1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ФТ-1:</a:t>
            </a:r>
            <a:r>
              <a:rPr lang="ru-RU" dirty="0"/>
              <a:t> Хранение данных в реляционной БД (</a:t>
            </a:r>
            <a:r>
              <a:rPr lang="ru-RU" dirty="0" err="1"/>
              <a:t>PostgreSQL</a:t>
            </a:r>
            <a:r>
              <a:rPr lang="ru-RU" dirty="0"/>
              <a:t>)</a:t>
            </a:r>
          </a:p>
          <a:p>
            <a:r>
              <a:rPr lang="ru-RU" b="1" dirty="0"/>
              <a:t>ФТ-2:</a:t>
            </a:r>
            <a:r>
              <a:rPr lang="ru-RU" dirty="0"/>
              <a:t> Независимость от серверов размещения</a:t>
            </a:r>
          </a:p>
          <a:p>
            <a:r>
              <a:rPr lang="ru-RU" b="1" dirty="0"/>
              <a:t>ФТ-3:</a:t>
            </a:r>
            <a:r>
              <a:rPr lang="ru-RU" dirty="0"/>
              <a:t> Настройка через конфигурационные файлы</a:t>
            </a:r>
          </a:p>
          <a:p>
            <a:r>
              <a:rPr lang="ru-RU" b="1" dirty="0"/>
              <a:t>ФТ-4:</a:t>
            </a:r>
            <a:r>
              <a:rPr lang="ru-RU" dirty="0"/>
              <a:t> Ведение учебных планов (создание, изменение, архивация, поиск)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3938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89678B-86B3-2491-EEE4-89EB92344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Фронт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EC1580-2338-29CA-36D3-992897D3A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7428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C21B8-E57B-667F-2EFB-140391C04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Бек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E8FE9C-3DCC-9003-6702-D7392746E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/>
              <a:t>1. КОНТРАКТЫ </a:t>
            </a:r>
            <a:r>
              <a:rPr lang="en-US" b="1" dirty="0"/>
              <a:t>API-</a:t>
            </a:r>
            <a:r>
              <a:rPr lang="ru-RU" b="1" dirty="0"/>
              <a:t>МЕТОДОВ</a:t>
            </a:r>
          </a:p>
          <a:p>
            <a:pPr marL="0" indent="0">
              <a:buNone/>
            </a:pPr>
            <a:endParaRPr lang="ru-RU" b="1" dirty="0"/>
          </a:p>
          <a:p>
            <a:pPr marL="0" indent="0">
              <a:buNone/>
            </a:pPr>
            <a:r>
              <a:rPr lang="ru-RU" b="1" dirty="0"/>
              <a:t>Аутентификация и авторизация</a:t>
            </a:r>
          </a:p>
          <a:p>
            <a:pPr marL="0" indent="0">
              <a:buNone/>
            </a:pPr>
            <a:r>
              <a:rPr lang="ru-RU" b="1" dirty="0"/>
              <a:t>POST /</a:t>
            </a:r>
            <a:r>
              <a:rPr lang="ru-RU" b="1" dirty="0" err="1"/>
              <a:t>api</a:t>
            </a:r>
            <a:r>
              <a:rPr lang="ru-RU" b="1" dirty="0"/>
              <a:t>/</a:t>
            </a:r>
            <a:r>
              <a:rPr lang="ru-RU" b="1" dirty="0" err="1"/>
              <a:t>auth</a:t>
            </a:r>
            <a:r>
              <a:rPr lang="ru-RU" b="1" dirty="0"/>
              <a:t>/</a:t>
            </a:r>
            <a:r>
              <a:rPr lang="ru-RU" b="1" dirty="0" err="1"/>
              <a:t>login</a:t>
            </a:r>
            <a:endParaRPr lang="ru-RU" b="1" dirty="0"/>
          </a:p>
          <a:p>
            <a:pPr marL="0" indent="0">
              <a:buNone/>
            </a:pPr>
            <a:r>
              <a:rPr lang="ru-RU" b="1" dirty="0"/>
              <a:t>Описание</a:t>
            </a:r>
            <a:r>
              <a:rPr lang="ru-RU" dirty="0"/>
              <a:t>: Получение JWT-токена для доступа к защищенным </a:t>
            </a:r>
            <a:r>
              <a:rPr lang="ru-RU" dirty="0" err="1"/>
              <a:t>эндпоинтам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Ошибки: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400 </a:t>
            </a:r>
            <a:r>
              <a:rPr lang="ru-RU" b="1" dirty="0" err="1"/>
              <a:t>ValidationException</a:t>
            </a:r>
            <a:r>
              <a:rPr lang="ru-RU" dirty="0"/>
              <a:t> – не заполнены обязательные поля.</a:t>
            </a:r>
          </a:p>
          <a:p>
            <a:pPr marL="0" indent="0">
              <a:buNone/>
            </a:pPr>
            <a:r>
              <a:rPr lang="ru-RU" b="1" dirty="0"/>
              <a:t>401 </a:t>
            </a:r>
            <a:r>
              <a:rPr lang="ru-RU" b="1" dirty="0" err="1"/>
              <a:t>RuntimeException</a:t>
            </a:r>
            <a:r>
              <a:rPr lang="ru-RU" dirty="0"/>
              <a:t> – неверные учетные данные.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09561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5DAF52-0E74-9EAC-374B-08FB05C14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2F356B-AE1E-1CED-EFC2-5726D094F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341557"/>
            <a:ext cx="10554574" cy="3636511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sz="2900" b="1" dirty="0"/>
              <a:t>Публичные операции</a:t>
            </a:r>
          </a:p>
          <a:p>
            <a:pPr marL="0" indent="0">
              <a:buNone/>
            </a:pPr>
            <a:endParaRPr lang="ru-RU" b="1" dirty="0"/>
          </a:p>
          <a:p>
            <a:pPr marL="0" indent="0">
              <a:buNone/>
            </a:pPr>
            <a:r>
              <a:rPr lang="ru-RU" sz="2600" b="1" dirty="0"/>
              <a:t>GET /</a:t>
            </a:r>
            <a:r>
              <a:rPr lang="ru-RU" sz="2600" b="1" dirty="0" err="1"/>
              <a:t>api</a:t>
            </a:r>
            <a:r>
              <a:rPr lang="ru-RU" sz="2600" b="1" dirty="0"/>
              <a:t>/</a:t>
            </a:r>
            <a:r>
              <a:rPr lang="ru-RU" sz="2600" b="1" dirty="0" err="1"/>
              <a:t>curricula</a:t>
            </a:r>
            <a:r>
              <a:rPr lang="ru-RU" sz="2600" b="1" dirty="0"/>
              <a:t>/{</a:t>
            </a:r>
            <a:r>
              <a:rPr lang="ru-RU" sz="2600" b="1" dirty="0" err="1"/>
              <a:t>studyPlanId</a:t>
            </a:r>
            <a:r>
              <a:rPr lang="ru-RU" sz="2600" b="1" dirty="0"/>
              <a:t>}</a:t>
            </a:r>
          </a:p>
          <a:p>
            <a:pPr marL="0" indent="0">
              <a:buNone/>
            </a:pPr>
            <a:r>
              <a:rPr lang="ru-RU" sz="2600" b="1" dirty="0"/>
              <a:t>Описание</a:t>
            </a:r>
            <a:r>
              <a:rPr lang="ru-RU" sz="2600" dirty="0"/>
              <a:t>: Получение учебного плана с дисциплинами и преподавателями.</a:t>
            </a:r>
          </a:p>
          <a:p>
            <a:pPr marL="0" indent="0">
              <a:buNone/>
            </a:pPr>
            <a:endParaRPr lang="ru-RU" sz="2600" dirty="0"/>
          </a:p>
          <a:p>
            <a:pPr marL="0" indent="0">
              <a:buNone/>
            </a:pPr>
            <a:r>
              <a:rPr lang="en-US" sz="2600" b="1" dirty="0"/>
              <a:t>GET /</a:t>
            </a:r>
            <a:r>
              <a:rPr lang="en-US" sz="2600" b="1" dirty="0" err="1"/>
              <a:t>api</a:t>
            </a:r>
            <a:r>
              <a:rPr lang="en-US" sz="2600" b="1" dirty="0"/>
              <a:t>/curricula/{</a:t>
            </a:r>
            <a:r>
              <a:rPr lang="en-US" sz="2600" b="1" dirty="0" err="1"/>
              <a:t>studyPlanId</a:t>
            </a:r>
            <a:r>
              <a:rPr lang="en-US" sz="2600" b="1" dirty="0"/>
              <a:t>}/pdf</a:t>
            </a:r>
          </a:p>
          <a:p>
            <a:pPr marL="0" indent="0">
              <a:buNone/>
            </a:pPr>
            <a:r>
              <a:rPr lang="ru-RU" sz="2600" b="1" dirty="0"/>
              <a:t>Описание</a:t>
            </a:r>
            <a:r>
              <a:rPr lang="ru-RU" sz="2600" dirty="0"/>
              <a:t>: Генерация </a:t>
            </a:r>
            <a:r>
              <a:rPr lang="en-US" sz="2600" dirty="0"/>
              <a:t>PDF </a:t>
            </a:r>
            <a:r>
              <a:rPr lang="ru-RU" sz="2600" dirty="0"/>
              <a:t>учебного плана.</a:t>
            </a:r>
          </a:p>
          <a:p>
            <a:pPr marL="0" indent="0">
              <a:buNone/>
            </a:pPr>
            <a:endParaRPr lang="ru-RU" sz="2600" dirty="0"/>
          </a:p>
          <a:p>
            <a:pPr marL="0" indent="0">
              <a:buNone/>
            </a:pPr>
            <a:endParaRPr lang="ru-RU" sz="2600" dirty="0"/>
          </a:p>
          <a:p>
            <a:pPr marL="0" indent="0">
              <a:buNone/>
            </a:pPr>
            <a:r>
              <a:rPr lang="ru-RU" sz="2600" b="1" dirty="0"/>
              <a:t>Ошибки:</a:t>
            </a:r>
            <a:endParaRPr lang="ru-RU" sz="2600" dirty="0"/>
          </a:p>
          <a:p>
            <a:pPr marL="0" indent="0">
              <a:buNone/>
            </a:pPr>
            <a:r>
              <a:rPr lang="ru-RU" sz="2600" b="1" dirty="0"/>
              <a:t>404 </a:t>
            </a:r>
            <a:r>
              <a:rPr lang="en-US" sz="2600" b="1" dirty="0" err="1"/>
              <a:t>StudyPlanNotFoundException</a:t>
            </a:r>
            <a:r>
              <a:rPr lang="en-US" sz="2600" dirty="0"/>
              <a:t> – </a:t>
            </a:r>
            <a:r>
              <a:rPr lang="ru-RU" sz="2600" dirty="0"/>
              <a:t>учебный план не найден.</a:t>
            </a:r>
          </a:p>
          <a:p>
            <a:pPr marL="0" indent="0">
              <a:buNone/>
            </a:pPr>
            <a:br>
              <a:rPr lang="ru-RU" dirty="0"/>
            </a:b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1457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3EDEFC-72A0-FD91-8DFD-81FD81F37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D1D597-4BBD-B9FF-D09A-DFA087FC3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546466"/>
            <a:ext cx="10554574" cy="386434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Администрирование направлений (</a:t>
            </a:r>
            <a:r>
              <a:rPr lang="en-US" b="1" dirty="0"/>
              <a:t>ADMIN/MANAGER)</a:t>
            </a:r>
          </a:p>
          <a:p>
            <a:pPr marL="0" indent="0">
              <a:buNone/>
            </a:pPr>
            <a:endParaRPr lang="ru-RU" b="1" dirty="0"/>
          </a:p>
          <a:p>
            <a:pPr marL="0" indent="0">
              <a:buNone/>
            </a:pPr>
            <a:r>
              <a:rPr lang="ru-RU" b="1" dirty="0"/>
              <a:t>POST /</a:t>
            </a:r>
            <a:r>
              <a:rPr lang="ru-RU" b="1" dirty="0" err="1"/>
              <a:t>api</a:t>
            </a:r>
            <a:r>
              <a:rPr lang="ru-RU" b="1" dirty="0"/>
              <a:t>/</a:t>
            </a:r>
            <a:r>
              <a:rPr lang="ru-RU" b="1" dirty="0" err="1"/>
              <a:t>admin</a:t>
            </a:r>
            <a:r>
              <a:rPr lang="ru-RU" b="1" dirty="0"/>
              <a:t>/</a:t>
            </a:r>
            <a:r>
              <a:rPr lang="ru-RU" b="1" dirty="0" err="1"/>
              <a:t>fields</a:t>
            </a:r>
            <a:endParaRPr lang="en-US" b="1" dirty="0"/>
          </a:p>
          <a:p>
            <a:pPr marL="0" indent="0">
              <a:buNone/>
            </a:pPr>
            <a:endParaRPr lang="ru-RU" b="1" dirty="0"/>
          </a:p>
          <a:p>
            <a:pPr marL="0" indent="0">
              <a:buNone/>
            </a:pPr>
            <a:r>
              <a:rPr lang="ru-RU" b="1" dirty="0"/>
              <a:t>Описание</a:t>
            </a:r>
            <a:r>
              <a:rPr lang="ru-RU" dirty="0"/>
              <a:t>: Создание направления подготовки.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b="1" dirty="0"/>
              <a:t>Ошибки: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400 </a:t>
            </a:r>
            <a:r>
              <a:rPr lang="en-US" b="1" dirty="0" err="1"/>
              <a:t>ValidationException</a:t>
            </a:r>
            <a:r>
              <a:rPr lang="en-US" dirty="0"/>
              <a:t> – </a:t>
            </a:r>
            <a:r>
              <a:rPr lang="ru-RU" dirty="0"/>
              <a:t>не заполнены обязательные поля.</a:t>
            </a:r>
          </a:p>
          <a:p>
            <a:pPr marL="0" indent="0">
              <a:buNone/>
            </a:pPr>
            <a:r>
              <a:rPr lang="ru-RU" b="1" dirty="0"/>
              <a:t>409 </a:t>
            </a:r>
            <a:r>
              <a:rPr lang="en-US" b="1" dirty="0" err="1"/>
              <a:t>DuplicateResourceException</a:t>
            </a:r>
            <a:r>
              <a:rPr lang="en-US" dirty="0"/>
              <a:t> – </a:t>
            </a:r>
            <a:r>
              <a:rPr lang="ru-RU" dirty="0"/>
              <a:t>профиль с таким именем уже существует.</a:t>
            </a:r>
          </a:p>
          <a:p>
            <a:pPr marL="0" indent="0">
              <a:buNone/>
            </a:pPr>
            <a:r>
              <a:rPr lang="ru-RU" b="1" dirty="0"/>
              <a:t>403 </a:t>
            </a:r>
            <a:r>
              <a:rPr lang="en-US" b="1" dirty="0" err="1"/>
              <a:t>AccessDeniedException</a:t>
            </a:r>
            <a:r>
              <a:rPr lang="en-US" dirty="0"/>
              <a:t> – </a:t>
            </a:r>
            <a:r>
              <a:rPr lang="ru-RU" dirty="0"/>
              <a:t>недостаточно прав.</a:t>
            </a:r>
          </a:p>
          <a:p>
            <a:pPr marL="0" indent="0">
              <a:buNone/>
            </a:pPr>
            <a:endParaRPr lang="en-US" b="1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8758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BE26D3-E406-BC0C-4B5C-AB62B314B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5B006D-53F6-D2C4-AF03-195EB7187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/>
              <a:t>Администрирование учебных планов (ADMIN/MANAGER)</a:t>
            </a:r>
            <a:endParaRPr lang="en-US" b="1" dirty="0"/>
          </a:p>
          <a:p>
            <a:pPr marL="0" indent="0">
              <a:buNone/>
            </a:pPr>
            <a:endParaRPr lang="ru-RU" b="1" dirty="0"/>
          </a:p>
          <a:p>
            <a:pPr marL="0" indent="0">
              <a:buNone/>
            </a:pPr>
            <a:r>
              <a:rPr lang="en-US" b="1" dirty="0"/>
              <a:t>POST /</a:t>
            </a:r>
            <a:r>
              <a:rPr lang="en-US" b="1" dirty="0" err="1"/>
              <a:t>api</a:t>
            </a:r>
            <a:r>
              <a:rPr lang="en-US" b="1" dirty="0"/>
              <a:t>/admin/fields/{</a:t>
            </a:r>
            <a:r>
              <a:rPr lang="en-US" b="1" dirty="0" err="1"/>
              <a:t>fieldId</a:t>
            </a:r>
            <a:r>
              <a:rPr lang="en-US" b="1" dirty="0"/>
              <a:t>}/study-plans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ru-RU" b="1" dirty="0"/>
              <a:t>Описание</a:t>
            </a:r>
            <a:r>
              <a:rPr lang="ru-RU" dirty="0"/>
              <a:t>: Создание учебного плана.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Ошибки: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400 </a:t>
            </a:r>
            <a:r>
              <a:rPr lang="en-US" b="1" dirty="0" err="1"/>
              <a:t>ValidationException</a:t>
            </a:r>
            <a:r>
              <a:rPr lang="en-US" dirty="0"/>
              <a:t> – </a:t>
            </a:r>
            <a:r>
              <a:rPr lang="ru-RU" dirty="0"/>
              <a:t>не заполнены обязательные поля.</a:t>
            </a:r>
          </a:p>
          <a:p>
            <a:pPr marL="0" indent="0">
              <a:buNone/>
            </a:pPr>
            <a:r>
              <a:rPr lang="ru-RU" b="1" dirty="0"/>
              <a:t>409 </a:t>
            </a:r>
            <a:r>
              <a:rPr lang="en-US" b="1" dirty="0" err="1"/>
              <a:t>DuplicateResourceException</a:t>
            </a:r>
            <a:r>
              <a:rPr lang="en-US" dirty="0"/>
              <a:t> – </a:t>
            </a:r>
            <a:r>
              <a:rPr lang="ru-RU" dirty="0"/>
              <a:t>план с такими параметрами уже существует.</a:t>
            </a:r>
          </a:p>
          <a:p>
            <a:pPr marL="0" indent="0">
              <a:buNone/>
            </a:pPr>
            <a:r>
              <a:rPr lang="ru-RU" b="1" dirty="0"/>
              <a:t>403 </a:t>
            </a:r>
            <a:r>
              <a:rPr lang="en-US" b="1" dirty="0" err="1"/>
              <a:t>AccessDeniedException</a:t>
            </a:r>
            <a:r>
              <a:rPr lang="en-US" dirty="0"/>
              <a:t> – </a:t>
            </a:r>
            <a:r>
              <a:rPr lang="ru-RU" dirty="0"/>
              <a:t>недостаточно прав.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412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3D0C0E-6B80-2A53-E83E-76725A9A7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EE288E-CB18-CB37-59A8-4FB3B2425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PATCH /</a:t>
            </a:r>
            <a:r>
              <a:rPr lang="en-US" b="1" dirty="0" err="1"/>
              <a:t>api</a:t>
            </a:r>
            <a:r>
              <a:rPr lang="en-US" b="1" dirty="0"/>
              <a:t>/admin/fields/{</a:t>
            </a:r>
            <a:r>
              <a:rPr lang="en-US" b="1" dirty="0" err="1"/>
              <a:t>fieldId</a:t>
            </a:r>
            <a:r>
              <a:rPr lang="en-US" b="1" dirty="0"/>
              <a:t>}/study-plans/{</a:t>
            </a:r>
            <a:r>
              <a:rPr lang="en-US" b="1" dirty="0" err="1"/>
              <a:t>planId</a:t>
            </a:r>
            <a:r>
              <a:rPr lang="en-US" b="1" dirty="0"/>
              <a:t>}/archive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ru-RU" b="1" dirty="0"/>
              <a:t>Описание</a:t>
            </a:r>
            <a:r>
              <a:rPr lang="ru-RU" dirty="0"/>
              <a:t>: Архивация/разархивация учебного плана.</a:t>
            </a:r>
            <a:br>
              <a:rPr lang="ru-RU" dirty="0"/>
            </a:br>
            <a:r>
              <a:rPr lang="ru-RU" b="1" dirty="0"/>
              <a:t>Только для </a:t>
            </a:r>
            <a:r>
              <a:rPr lang="en-US" b="1" dirty="0"/>
              <a:t>ADMIN.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b="1" dirty="0"/>
              <a:t>Ошибки: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403 </a:t>
            </a:r>
            <a:r>
              <a:rPr lang="ru-RU" b="1" dirty="0" err="1"/>
              <a:t>AccessDeniedException</a:t>
            </a:r>
            <a:r>
              <a:rPr lang="ru-RU" dirty="0"/>
              <a:t> – недостаточно прав (только ADMIN).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9411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5B0EA9-04B9-8593-6432-BCC450406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FA9FCE-0DC7-159D-2847-50FFFA038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PUT /</a:t>
            </a:r>
            <a:r>
              <a:rPr lang="en-US" b="1" dirty="0" err="1"/>
              <a:t>api</a:t>
            </a:r>
            <a:r>
              <a:rPr lang="en-US" b="1" dirty="0"/>
              <a:t>/admin/fields/{</a:t>
            </a:r>
            <a:r>
              <a:rPr lang="en-US" b="1" dirty="0" err="1"/>
              <a:t>fieldId</a:t>
            </a:r>
            <a:r>
              <a:rPr lang="en-US" b="1" dirty="0"/>
              <a:t>}/study-plans/{</a:t>
            </a:r>
            <a:r>
              <a:rPr lang="en-US" b="1" dirty="0" err="1"/>
              <a:t>planId</a:t>
            </a:r>
            <a:r>
              <a:rPr lang="en-US" b="1" dirty="0"/>
              <a:t>}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ru-RU" b="1" dirty="0"/>
              <a:t>Описание</a:t>
            </a:r>
            <a:r>
              <a:rPr lang="ru-RU" dirty="0"/>
              <a:t>: Изменение учебного плана.</a:t>
            </a:r>
            <a:endParaRPr lang="en-US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Ошибки: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403 </a:t>
            </a:r>
            <a:r>
              <a:rPr lang="en-US" b="1" dirty="0" err="1"/>
              <a:t>AccessDeniedException</a:t>
            </a:r>
            <a:r>
              <a:rPr lang="en-US" dirty="0"/>
              <a:t> – </a:t>
            </a:r>
            <a:r>
              <a:rPr lang="ru-RU" dirty="0"/>
              <a:t>недостаточно прав.</a:t>
            </a:r>
          </a:p>
          <a:p>
            <a:pPr marL="0" indent="0">
              <a:buNone/>
            </a:pPr>
            <a:r>
              <a:rPr lang="ru-RU" b="1" dirty="0"/>
              <a:t>409 </a:t>
            </a:r>
            <a:r>
              <a:rPr lang="en-US" b="1" dirty="0" err="1"/>
              <a:t>ArchiveStudyPlanException</a:t>
            </a:r>
            <a:r>
              <a:rPr lang="en-US" dirty="0"/>
              <a:t> – </a:t>
            </a:r>
            <a:r>
              <a:rPr lang="ru-RU" dirty="0"/>
              <a:t>план в архиве.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4594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4E426C-A30D-91DC-7BD8-FD3A91C88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D59A55-41D0-7AFF-63C5-3297C6CF3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DELETE /</a:t>
            </a:r>
            <a:r>
              <a:rPr lang="en-US" b="1" dirty="0" err="1"/>
              <a:t>api</a:t>
            </a:r>
            <a:r>
              <a:rPr lang="en-US" b="1" dirty="0"/>
              <a:t>/admin/fields/{</a:t>
            </a:r>
            <a:r>
              <a:rPr lang="en-US" b="1" dirty="0" err="1"/>
              <a:t>fieldId</a:t>
            </a:r>
            <a:r>
              <a:rPr lang="en-US" b="1" dirty="0"/>
              <a:t>}/study-plans/{</a:t>
            </a:r>
            <a:r>
              <a:rPr lang="en-US" b="1" dirty="0" err="1"/>
              <a:t>planId</a:t>
            </a:r>
            <a:r>
              <a:rPr lang="en-US" b="1" dirty="0"/>
              <a:t>}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ru-RU" b="1" dirty="0"/>
              <a:t>Описание</a:t>
            </a:r>
            <a:r>
              <a:rPr lang="ru-RU" dirty="0"/>
              <a:t>: Удаление учебного плана.</a:t>
            </a:r>
            <a:endParaRPr lang="en-US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Ошибки: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403 </a:t>
            </a:r>
            <a:r>
              <a:rPr lang="en-US" b="1" dirty="0" err="1"/>
              <a:t>AccessDeniedException</a:t>
            </a:r>
            <a:r>
              <a:rPr lang="en-US" dirty="0"/>
              <a:t> – </a:t>
            </a:r>
            <a:r>
              <a:rPr lang="ru-RU" dirty="0"/>
              <a:t>недостаточно прав.</a:t>
            </a:r>
          </a:p>
          <a:p>
            <a:pPr marL="0" indent="0">
              <a:buNone/>
            </a:pPr>
            <a:r>
              <a:rPr lang="ru-RU" b="1" dirty="0"/>
              <a:t>409 </a:t>
            </a:r>
            <a:r>
              <a:rPr lang="en-US" b="1" dirty="0" err="1"/>
              <a:t>ArchiveStudyPlanException</a:t>
            </a:r>
            <a:r>
              <a:rPr lang="en-US" dirty="0"/>
              <a:t> – </a:t>
            </a:r>
            <a:r>
              <a:rPr lang="ru-RU" dirty="0"/>
              <a:t>план в архиве.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93503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AFB91B-190C-C53B-B3BF-9DA5C2D56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C13D59-2F55-E9FE-E6AC-4AD73A29B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DELETE /</a:t>
            </a:r>
            <a:r>
              <a:rPr lang="en-US" b="1" dirty="0" err="1"/>
              <a:t>api</a:t>
            </a:r>
            <a:r>
              <a:rPr lang="en-US" b="1" dirty="0"/>
              <a:t>/admin/fields/{</a:t>
            </a:r>
            <a:r>
              <a:rPr lang="en-US" b="1" dirty="0" err="1"/>
              <a:t>fieldId</a:t>
            </a:r>
            <a:r>
              <a:rPr lang="en-US" b="1" dirty="0"/>
              <a:t>}/study-plans/{</a:t>
            </a:r>
            <a:r>
              <a:rPr lang="en-US" b="1" dirty="0" err="1"/>
              <a:t>planId</a:t>
            </a:r>
            <a:r>
              <a:rPr lang="en-US" b="1" dirty="0"/>
              <a:t>}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ru-RU" b="1" dirty="0"/>
              <a:t>Описание</a:t>
            </a:r>
            <a:r>
              <a:rPr lang="ru-RU" dirty="0"/>
              <a:t>: Удаление учебного плана.</a:t>
            </a:r>
            <a:endParaRPr lang="en-US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Ошибки: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403 </a:t>
            </a:r>
            <a:r>
              <a:rPr lang="en-US" b="1" dirty="0" err="1"/>
              <a:t>AccessDeniedException</a:t>
            </a:r>
            <a:r>
              <a:rPr lang="en-US" dirty="0"/>
              <a:t> – </a:t>
            </a:r>
            <a:r>
              <a:rPr lang="ru-RU" dirty="0"/>
              <a:t>недостаточно прав.</a:t>
            </a:r>
          </a:p>
          <a:p>
            <a:pPr marL="0" indent="0">
              <a:buNone/>
            </a:pPr>
            <a:r>
              <a:rPr lang="ru-RU" b="1" dirty="0"/>
              <a:t>409 </a:t>
            </a:r>
            <a:r>
              <a:rPr lang="en-US" b="1" dirty="0" err="1"/>
              <a:t>ArchiveStudyPlanException</a:t>
            </a:r>
            <a:r>
              <a:rPr lang="en-US" dirty="0"/>
              <a:t> – </a:t>
            </a:r>
            <a:r>
              <a:rPr lang="ru-RU" dirty="0"/>
              <a:t>план в архиве.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3260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094F07-34E3-96F9-B501-39181BDF0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6354E7-BF3E-3903-A2D7-32B2117CC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Управление контентом учебных планов</a:t>
            </a:r>
          </a:p>
          <a:p>
            <a:pPr marL="0" indent="0">
              <a:buNone/>
            </a:pPr>
            <a:r>
              <a:rPr lang="en-US" b="1" dirty="0"/>
              <a:t>POST /</a:t>
            </a:r>
            <a:r>
              <a:rPr lang="en-US" b="1" dirty="0" err="1"/>
              <a:t>api</a:t>
            </a:r>
            <a:r>
              <a:rPr lang="en-US" b="1" dirty="0"/>
              <a:t>/admin/fields/{</a:t>
            </a:r>
            <a:r>
              <a:rPr lang="en-US" b="1" dirty="0" err="1"/>
              <a:t>fieldId</a:t>
            </a:r>
            <a:r>
              <a:rPr lang="en-US" b="1" dirty="0"/>
              <a:t>}/study-plans/{</a:t>
            </a:r>
            <a:r>
              <a:rPr lang="en-US" b="1" dirty="0" err="1"/>
              <a:t>planId</a:t>
            </a:r>
            <a:r>
              <a:rPr lang="en-US" b="1" dirty="0"/>
              <a:t>}/content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ru-RU" b="1" dirty="0"/>
              <a:t>Описание</a:t>
            </a:r>
            <a:r>
              <a:rPr lang="ru-RU" dirty="0"/>
              <a:t>: Добавление дисциплин в учебный план.</a:t>
            </a:r>
            <a:endParaRPr lang="en-US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Ошибки: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400 </a:t>
            </a:r>
            <a:r>
              <a:rPr lang="en-US" b="1" dirty="0" err="1"/>
              <a:t>DuplicateDisciplineException</a:t>
            </a:r>
            <a:r>
              <a:rPr lang="en-US" dirty="0"/>
              <a:t> – </a:t>
            </a:r>
            <a:r>
              <a:rPr lang="ru-RU" dirty="0"/>
              <a:t>дисциплина уже есть в плане.</a:t>
            </a:r>
          </a:p>
          <a:p>
            <a:pPr marL="0" indent="0">
              <a:buNone/>
            </a:pPr>
            <a:r>
              <a:rPr lang="ru-RU" b="1" dirty="0"/>
              <a:t>409 </a:t>
            </a:r>
            <a:r>
              <a:rPr lang="en-US" b="1" dirty="0" err="1"/>
              <a:t>ArchiveStudyPlanException</a:t>
            </a:r>
            <a:r>
              <a:rPr lang="en-US" dirty="0"/>
              <a:t> – </a:t>
            </a:r>
            <a:r>
              <a:rPr lang="ru-RU" dirty="0"/>
              <a:t>план в архиве.</a:t>
            </a:r>
          </a:p>
          <a:p>
            <a:pPr marL="0" indent="0">
              <a:buNone/>
            </a:pPr>
            <a:r>
              <a:rPr lang="ru-RU" b="1" dirty="0"/>
              <a:t>403 </a:t>
            </a:r>
            <a:r>
              <a:rPr lang="en-US" b="1" dirty="0" err="1"/>
              <a:t>AccessDeniedException</a:t>
            </a:r>
            <a:r>
              <a:rPr lang="en-US" dirty="0"/>
              <a:t> – </a:t>
            </a:r>
            <a:r>
              <a:rPr lang="ru-RU" dirty="0"/>
              <a:t>недостаточно прав.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701440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9F887E-A42C-4E2D-2FBF-620D74DF2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FB88C5-C490-EC33-71CA-EAD668B88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DELETE /</a:t>
            </a:r>
            <a:r>
              <a:rPr lang="en-US" b="1" dirty="0" err="1"/>
              <a:t>api</a:t>
            </a:r>
            <a:r>
              <a:rPr lang="en-US" b="1" dirty="0"/>
              <a:t>/admin/fields/{</a:t>
            </a:r>
            <a:r>
              <a:rPr lang="en-US" b="1" dirty="0" err="1"/>
              <a:t>fieldId</a:t>
            </a:r>
            <a:r>
              <a:rPr lang="en-US" b="1" dirty="0"/>
              <a:t>}/study-plans/{</a:t>
            </a:r>
            <a:r>
              <a:rPr lang="en-US" b="1" dirty="0" err="1"/>
              <a:t>planId</a:t>
            </a:r>
            <a:r>
              <a:rPr lang="en-US" b="1" dirty="0"/>
              <a:t>}/content</a:t>
            </a:r>
          </a:p>
          <a:p>
            <a:pPr marL="0" indent="0">
              <a:buNone/>
            </a:pPr>
            <a:r>
              <a:rPr lang="ru-RU" b="1" dirty="0"/>
              <a:t>Описание</a:t>
            </a:r>
            <a:r>
              <a:rPr lang="ru-RU" dirty="0"/>
              <a:t>: Удаление дисциплин из учебного плана.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7486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F2A850-D69C-C5C8-7659-748752FF9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BF796F-CFE6-F05C-EC85-24392E244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PUT /</a:t>
            </a:r>
            <a:r>
              <a:rPr lang="en-US" b="1" dirty="0" err="1"/>
              <a:t>api</a:t>
            </a:r>
            <a:r>
              <a:rPr lang="en-US" b="1" dirty="0"/>
              <a:t>/admin/fields/{</a:t>
            </a:r>
            <a:r>
              <a:rPr lang="en-US" b="1" dirty="0" err="1"/>
              <a:t>fieldId</a:t>
            </a:r>
            <a:r>
              <a:rPr lang="en-US" b="1" dirty="0"/>
              <a:t>}/study-plans/{</a:t>
            </a:r>
            <a:r>
              <a:rPr lang="en-US" b="1" dirty="0" err="1"/>
              <a:t>planId</a:t>
            </a:r>
            <a:r>
              <a:rPr lang="en-US" b="1" dirty="0"/>
              <a:t>}/content</a:t>
            </a:r>
          </a:p>
          <a:p>
            <a:r>
              <a:rPr lang="ru-RU" b="1" dirty="0"/>
              <a:t>Описание</a:t>
            </a:r>
            <a:r>
              <a:rPr lang="ru-RU" dirty="0"/>
              <a:t>: Изменение дисциплин в учебном плане.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13654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37DBE3-EC8B-80F8-EB93-2B149AD77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Тестировщик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2D1516-F645-4182-9E24-0BB116B7A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DELETE  /</a:t>
            </a:r>
            <a:r>
              <a:rPr lang="ru-RU" b="1" dirty="0" err="1"/>
              <a:t>api</a:t>
            </a:r>
            <a:r>
              <a:rPr lang="ru-RU" b="1" dirty="0"/>
              <a:t>/</a:t>
            </a:r>
            <a:r>
              <a:rPr lang="ru-RU" b="1" dirty="0" err="1"/>
              <a:t>admin</a:t>
            </a:r>
            <a:r>
              <a:rPr lang="ru-RU" b="1" dirty="0"/>
              <a:t>/</a:t>
            </a:r>
            <a:r>
              <a:rPr lang="ru-RU" b="1" dirty="0" err="1"/>
              <a:t>fields</a:t>
            </a:r>
            <a:r>
              <a:rPr lang="ru-RU" b="1" dirty="0"/>
              <a:t>/{</a:t>
            </a:r>
            <a:r>
              <a:rPr lang="ru-RU" b="1" dirty="0" err="1"/>
              <a:t>id</a:t>
            </a:r>
            <a:r>
              <a:rPr lang="ru-RU" b="1" dirty="0"/>
              <a:t>}</a:t>
            </a:r>
          </a:p>
          <a:p>
            <a:pPr marL="0" indent="0">
              <a:buNone/>
            </a:pPr>
            <a:r>
              <a:rPr lang="ru-RU" b="1" dirty="0"/>
              <a:t>Описание</a:t>
            </a:r>
            <a:r>
              <a:rPr lang="ru-RU" dirty="0"/>
              <a:t>: Удаление направления подготовки.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Ошибки: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400 </a:t>
            </a:r>
            <a:r>
              <a:rPr lang="en-US" b="1" dirty="0" err="1"/>
              <a:t>ValidationException</a:t>
            </a:r>
            <a:r>
              <a:rPr lang="en-US" dirty="0"/>
              <a:t> – </a:t>
            </a:r>
            <a:r>
              <a:rPr lang="ru-RU" dirty="0"/>
              <a:t>есть связанные учебные планы.</a:t>
            </a:r>
          </a:p>
          <a:p>
            <a:pPr marL="0" indent="0">
              <a:buNone/>
            </a:pPr>
            <a:r>
              <a:rPr lang="ru-RU" b="1" dirty="0"/>
              <a:t>403 </a:t>
            </a:r>
            <a:r>
              <a:rPr lang="en-US" b="1" dirty="0" err="1"/>
              <a:t>AccessDeniedException</a:t>
            </a:r>
            <a:r>
              <a:rPr lang="en-US" dirty="0"/>
              <a:t> – </a:t>
            </a:r>
            <a:r>
              <a:rPr lang="ru-RU" dirty="0"/>
              <a:t>недостаточно прав.</a:t>
            </a:r>
          </a:p>
          <a:p>
            <a:pPr marL="0" indent="0">
              <a:buNone/>
            </a:pP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321607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5ECE23-6D76-E3C3-9937-CE7949035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/>
              <a:t>Описание схемы базы данных системы управления учебными планами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8DB6F9-0336-D6C2-65E4-BC72C49A5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Общая структура БД</a:t>
            </a:r>
          </a:p>
          <a:p>
            <a:pPr marL="0" indent="0">
              <a:buNone/>
            </a:pPr>
            <a:r>
              <a:rPr lang="ru-RU" dirty="0"/>
              <a:t>База данных состоит из </a:t>
            </a:r>
            <a:r>
              <a:rPr lang="ru-RU" b="1" dirty="0"/>
              <a:t>8 таблиц</a:t>
            </a:r>
            <a:r>
              <a:rPr lang="ru-RU" dirty="0"/>
              <a:t>, которые можно разделить на следующие логические группы:</a:t>
            </a:r>
          </a:p>
          <a:p>
            <a:r>
              <a:rPr lang="ru-RU" b="1" dirty="0"/>
              <a:t>Пользователи системы</a:t>
            </a:r>
            <a:r>
              <a:rPr lang="ru-RU" dirty="0"/>
              <a:t> (</a:t>
            </a:r>
            <a:r>
              <a:rPr lang="en-US" dirty="0"/>
              <a:t>admins)</a:t>
            </a:r>
          </a:p>
          <a:p>
            <a:r>
              <a:rPr lang="ru-RU" b="1" dirty="0"/>
              <a:t>Справочники</a:t>
            </a:r>
            <a:r>
              <a:rPr lang="ru-RU" dirty="0"/>
              <a:t> (</a:t>
            </a:r>
            <a:r>
              <a:rPr lang="en-US" dirty="0" err="1"/>
              <a:t>field_of_study</a:t>
            </a:r>
            <a:r>
              <a:rPr lang="en-US" dirty="0"/>
              <a:t>, discipline, teacher)</a:t>
            </a:r>
          </a:p>
          <a:p>
            <a:r>
              <a:rPr lang="ru-RU" b="1" dirty="0"/>
              <a:t>Учебные планы</a:t>
            </a:r>
            <a:r>
              <a:rPr lang="ru-RU" dirty="0"/>
              <a:t> (</a:t>
            </a:r>
            <a:r>
              <a:rPr lang="en-US" dirty="0"/>
              <a:t>curriculum)</a:t>
            </a:r>
          </a:p>
          <a:p>
            <a:r>
              <a:rPr lang="ru-RU" b="1" dirty="0"/>
              <a:t>Связующие таблицы</a:t>
            </a:r>
            <a:r>
              <a:rPr lang="ru-RU" dirty="0"/>
              <a:t> (</a:t>
            </a:r>
            <a:r>
              <a:rPr lang="en-US" dirty="0" err="1"/>
              <a:t>subsidiary_discip_curriculum</a:t>
            </a:r>
            <a:r>
              <a:rPr lang="en-US" dirty="0"/>
              <a:t>, </a:t>
            </a:r>
            <a:r>
              <a:rPr lang="en-US" dirty="0" err="1"/>
              <a:t>subsidiary_discip_teacher</a:t>
            </a:r>
            <a:r>
              <a:rPr lang="en-US" dirty="0"/>
              <a:t>)</a:t>
            </a:r>
          </a:p>
          <a:p>
            <a:r>
              <a:rPr lang="ru-RU" b="1" dirty="0"/>
              <a:t>Файлы</a:t>
            </a:r>
            <a:r>
              <a:rPr lang="ru-RU" dirty="0"/>
              <a:t> (</a:t>
            </a:r>
            <a:r>
              <a:rPr lang="en-US" dirty="0" err="1"/>
              <a:t>curriculum_files</a:t>
            </a:r>
            <a:r>
              <a:rPr lang="en-US" dirty="0"/>
              <a:t>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78541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8F2FC3E2-00AF-C4FF-C3D9-1672E1804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База данных 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29639641-2758-DEB8-EB2B-885F84E862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4487C87-E432-527C-9BFB-4C98DF2FFD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3176" y="2292625"/>
            <a:ext cx="7126356" cy="442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7746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70E755-D9C4-4EB7-5161-E85668CA4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/>
              <a:t>Таблица </a:t>
            </a:r>
            <a:r>
              <a:rPr lang="en-US" sz="3200" dirty="0"/>
              <a:t>admins (</a:t>
            </a:r>
            <a:r>
              <a:rPr lang="ru-RU" sz="3200" dirty="0"/>
              <a:t>Администраторы системы)</a:t>
            </a:r>
          </a:p>
        </p:txBody>
      </p:sp>
      <p:pic>
        <p:nvPicPr>
          <p:cNvPr id="5" name="Рисунок 4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7F2489C-5596-E59C-F5CE-125D6ACEE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225" y="2308426"/>
            <a:ext cx="2647039" cy="1985278"/>
          </a:xfrm>
          <a:prstGeom prst="rect">
            <a:avLst/>
          </a:prstGeom>
        </p:spPr>
      </p:pic>
      <p:graphicFrame>
        <p:nvGraphicFramePr>
          <p:cNvPr id="9" name="Объект 15">
            <a:extLst>
              <a:ext uri="{FF2B5EF4-FFF2-40B4-BE49-F238E27FC236}">
                <a16:creationId xmlns:a16="http://schemas.microsoft.com/office/drawing/2014/main" id="{FD7B4E7A-0102-3738-4806-508CAEE077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6794741"/>
              </p:ext>
            </p:extLst>
          </p:nvPr>
        </p:nvGraphicFramePr>
        <p:xfrm>
          <a:off x="346905" y="2308426"/>
          <a:ext cx="8768242" cy="4201855"/>
        </p:xfrm>
        <a:graphic>
          <a:graphicData uri="http://schemas.openxmlformats.org/drawingml/2006/table">
            <a:tbl>
              <a:tblPr/>
              <a:tblGrid>
                <a:gridCol w="2000521">
                  <a:extLst>
                    <a:ext uri="{9D8B030D-6E8A-4147-A177-3AD203B41FA5}">
                      <a16:colId xmlns:a16="http://schemas.microsoft.com/office/drawing/2014/main" val="3447740899"/>
                    </a:ext>
                  </a:extLst>
                </a:gridCol>
                <a:gridCol w="2255907">
                  <a:extLst>
                    <a:ext uri="{9D8B030D-6E8A-4147-A177-3AD203B41FA5}">
                      <a16:colId xmlns:a16="http://schemas.microsoft.com/office/drawing/2014/main" val="2540106268"/>
                    </a:ext>
                  </a:extLst>
                </a:gridCol>
                <a:gridCol w="2255907">
                  <a:extLst>
                    <a:ext uri="{9D8B030D-6E8A-4147-A177-3AD203B41FA5}">
                      <a16:colId xmlns:a16="http://schemas.microsoft.com/office/drawing/2014/main" val="2842873152"/>
                    </a:ext>
                  </a:extLst>
                </a:gridCol>
                <a:gridCol w="2255907">
                  <a:extLst>
                    <a:ext uri="{9D8B030D-6E8A-4147-A177-3AD203B41FA5}">
                      <a16:colId xmlns:a16="http://schemas.microsoft.com/office/drawing/2014/main" val="239072143"/>
                    </a:ext>
                  </a:extLst>
                </a:gridCol>
              </a:tblGrid>
              <a:tr h="32680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500" b="0" dirty="0">
                          <a:effectLst/>
                          <a:latin typeface="quote-cjk-patch"/>
                        </a:rPr>
                        <a:t>Поле</a:t>
                      </a:r>
                    </a:p>
                  </a:txBody>
                  <a:tcPr marL="75902" marR="101202" marT="63252" marB="632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500" b="0" dirty="0">
                          <a:effectLst/>
                          <a:latin typeface="quote-cjk-patch"/>
                        </a:rPr>
                        <a:t>Тип</a:t>
                      </a:r>
                    </a:p>
                  </a:txBody>
                  <a:tcPr marL="101202" marR="101202" marT="63252" marB="632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500" b="0" dirty="0">
                          <a:effectLst/>
                          <a:latin typeface="quote-cjk-patch"/>
                        </a:rPr>
                        <a:t>Обязательное</a:t>
                      </a:r>
                    </a:p>
                  </a:txBody>
                  <a:tcPr marL="101202" marR="101202" marT="63252" marB="632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500" b="0" dirty="0">
                          <a:effectLst/>
                          <a:latin typeface="quote-cjk-patch"/>
                        </a:rPr>
                        <a:t>Бизнес-значение</a:t>
                      </a:r>
                    </a:p>
                  </a:txBody>
                  <a:tcPr marL="101202" marR="101202" marT="63252" marB="632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946437"/>
                  </a:ext>
                </a:extLst>
              </a:tr>
              <a:tr h="927689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500" b="0" dirty="0">
                          <a:effectLst/>
                          <a:latin typeface="Menlo"/>
                        </a:rPr>
                        <a:t>id</a:t>
                      </a:r>
                      <a:endParaRPr lang="en-US" sz="1500" b="0" dirty="0">
                        <a:effectLst/>
                        <a:latin typeface="quote-cjk-patch"/>
                      </a:endParaRPr>
                    </a:p>
                  </a:txBody>
                  <a:tcPr marL="75902" marR="101202" marT="63252" marB="632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>
                          <a:effectLst/>
                          <a:latin typeface="quote-cjk-patch"/>
                        </a:rPr>
                        <a:t>bigserial</a:t>
                      </a:r>
                    </a:p>
                  </a:txBody>
                  <a:tcPr marL="101202" marR="101202" marT="63252" marB="632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>
                          <a:effectLst/>
                          <a:latin typeface="quote-cjk-patch"/>
                        </a:rPr>
                        <a:t>Да</a:t>
                      </a:r>
                    </a:p>
                  </a:txBody>
                  <a:tcPr marL="101202" marR="101202" marT="63252" marB="632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 dirty="0">
                          <a:effectLst/>
                          <a:latin typeface="quote-cjk-patch"/>
                        </a:rPr>
                        <a:t>Уникальный идентификатор пользователя (первичный ключ)</a:t>
                      </a:r>
                    </a:p>
                  </a:txBody>
                  <a:tcPr marL="101202" marR="75902" marT="63252" marB="632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3482703"/>
                  </a:ext>
                </a:extLst>
              </a:tr>
              <a:tr h="727393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500" b="0" dirty="0">
                          <a:effectLst/>
                          <a:latin typeface="Menlo"/>
                        </a:rPr>
                        <a:t>username</a:t>
                      </a:r>
                      <a:endParaRPr lang="en-US" sz="1500" b="0" dirty="0">
                        <a:effectLst/>
                        <a:latin typeface="quote-cjk-patch"/>
                      </a:endParaRPr>
                    </a:p>
                  </a:txBody>
                  <a:tcPr marL="75902" marR="101202" marT="63252" marB="632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>
                          <a:effectLst/>
                          <a:latin typeface="quote-cjk-patch"/>
                        </a:rPr>
                        <a:t>varchar</a:t>
                      </a:r>
                    </a:p>
                  </a:txBody>
                  <a:tcPr marL="101202" marR="101202" marT="63252" marB="632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 dirty="0">
                          <a:effectLst/>
                          <a:latin typeface="quote-cjk-patch"/>
                        </a:rPr>
                        <a:t>Да</a:t>
                      </a:r>
                    </a:p>
                  </a:txBody>
                  <a:tcPr marL="101202" marR="101202" marT="63252" marB="632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>
                          <a:effectLst/>
                          <a:latin typeface="quote-cjk-patch"/>
                        </a:rPr>
                        <a:t>Логин для входа в систему (например, "admin", "manager")</a:t>
                      </a:r>
                    </a:p>
                  </a:txBody>
                  <a:tcPr marL="101202" marR="75902" marT="63252" marB="632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594866"/>
                  </a:ext>
                </a:extLst>
              </a:tr>
              <a:tr h="527096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500" b="0">
                          <a:effectLst/>
                          <a:latin typeface="Menlo"/>
                        </a:rPr>
                        <a:t>password</a:t>
                      </a:r>
                      <a:endParaRPr lang="en-US" sz="1500" b="0">
                        <a:effectLst/>
                        <a:latin typeface="quote-cjk-patch"/>
                      </a:endParaRPr>
                    </a:p>
                  </a:txBody>
                  <a:tcPr marL="75902" marR="101202" marT="63252" marB="632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>
                          <a:effectLst/>
                          <a:latin typeface="quote-cjk-patch"/>
                        </a:rPr>
                        <a:t>varchar</a:t>
                      </a:r>
                    </a:p>
                  </a:txBody>
                  <a:tcPr marL="101202" marR="101202" marT="63252" marB="632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>
                          <a:effectLst/>
                          <a:latin typeface="quote-cjk-patch"/>
                        </a:rPr>
                        <a:t>Да</a:t>
                      </a:r>
                    </a:p>
                  </a:txBody>
                  <a:tcPr marL="101202" marR="101202" marT="63252" marB="632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>
                          <a:effectLst/>
                          <a:latin typeface="quote-cjk-patch"/>
                        </a:rPr>
                        <a:t>Хешированный пароль пользователя</a:t>
                      </a:r>
                    </a:p>
                  </a:txBody>
                  <a:tcPr marL="101202" marR="75902" marT="63252" marB="632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306889"/>
                  </a:ext>
                </a:extLst>
              </a:tr>
              <a:tr h="1127986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500" b="0">
                          <a:effectLst/>
                          <a:latin typeface="Menlo"/>
                        </a:rPr>
                        <a:t>role</a:t>
                      </a:r>
                      <a:endParaRPr lang="en-US" sz="1500" b="0">
                        <a:effectLst/>
                        <a:latin typeface="quote-cjk-patch"/>
                      </a:endParaRPr>
                    </a:p>
                  </a:txBody>
                  <a:tcPr marL="75902" marR="101202" marT="63252" marB="632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>
                          <a:effectLst/>
                          <a:latin typeface="quote-cjk-patch"/>
                        </a:rPr>
                        <a:t>varchar</a:t>
                      </a:r>
                    </a:p>
                  </a:txBody>
                  <a:tcPr marL="101202" marR="101202" marT="63252" marB="632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>
                          <a:effectLst/>
                          <a:latin typeface="quote-cjk-patch"/>
                        </a:rPr>
                        <a:t>Да</a:t>
                      </a:r>
                    </a:p>
                  </a:txBody>
                  <a:tcPr marL="101202" marR="101202" marT="63252" marB="632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 dirty="0">
                          <a:effectLst/>
                          <a:latin typeface="quote-cjk-patch"/>
                        </a:rPr>
                        <a:t>Роль в системе: </a:t>
                      </a:r>
                      <a:r>
                        <a:rPr lang="ru-RU" sz="1500" b="1" dirty="0">
                          <a:effectLst/>
                          <a:latin typeface="quote-cjk-patch"/>
                        </a:rPr>
                        <a:t>ADMIN</a:t>
                      </a:r>
                      <a:r>
                        <a:rPr lang="ru-RU" sz="1500" b="0" dirty="0">
                          <a:effectLst/>
                          <a:latin typeface="quote-cjk-patch"/>
                        </a:rPr>
                        <a:t> (полный доступ) или </a:t>
                      </a:r>
                      <a:r>
                        <a:rPr lang="ru-RU" sz="1500" b="1" dirty="0">
                          <a:effectLst/>
                          <a:latin typeface="quote-cjk-patch"/>
                        </a:rPr>
                        <a:t>MANAGER</a:t>
                      </a:r>
                      <a:r>
                        <a:rPr lang="ru-RU" sz="1500" b="0" dirty="0">
                          <a:effectLst/>
                          <a:latin typeface="quote-cjk-patch"/>
                        </a:rPr>
                        <a:t> (ограниченный доступ)</a:t>
                      </a:r>
                    </a:p>
                  </a:txBody>
                  <a:tcPr marL="101202" marR="75902" marT="63252" marB="632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69052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86BBE36-E4FE-B5C2-F151-4AF10E3AE140}"/>
              </a:ext>
            </a:extLst>
          </p:cNvPr>
          <p:cNvSpPr txBox="1"/>
          <p:nvPr/>
        </p:nvSpPr>
        <p:spPr>
          <a:xfrm>
            <a:off x="9275225" y="4563573"/>
            <a:ext cx="288138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effectLst/>
                <a:latin typeface="quote-cjk-patch"/>
              </a:rPr>
              <a:t>Бизнес-назначение</a:t>
            </a:r>
            <a:r>
              <a:rPr lang="ru-RU" b="0" i="0" dirty="0">
                <a:effectLst/>
                <a:latin typeface="quote-cjk-patch"/>
              </a:rPr>
              <a:t>: Хранение учетных данных пользователей с разграничением прав доступа.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27243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282AD8-A0F6-37CF-8F16-A6603497C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09" y="274909"/>
            <a:ext cx="10571998" cy="970450"/>
          </a:xfrm>
        </p:spPr>
        <p:txBody>
          <a:bodyPr/>
          <a:lstStyle/>
          <a:p>
            <a:r>
              <a:rPr lang="ru-RU" sz="3200" dirty="0"/>
              <a:t>Таблица </a:t>
            </a:r>
            <a:r>
              <a:rPr lang="ru-RU" sz="3200" dirty="0" err="1"/>
              <a:t>field_of_study</a:t>
            </a:r>
            <a:r>
              <a:rPr lang="ru-RU" sz="3200" dirty="0"/>
              <a:t> (Направления подготовки)</a:t>
            </a:r>
          </a:p>
        </p:txBody>
      </p:sp>
      <p:graphicFrame>
        <p:nvGraphicFramePr>
          <p:cNvPr id="21" name="Таблица 20">
            <a:extLst>
              <a:ext uri="{FF2B5EF4-FFF2-40B4-BE49-F238E27FC236}">
                <a16:creationId xmlns:a16="http://schemas.microsoft.com/office/drawing/2014/main" id="{F6BC24B5-1014-9BC8-EBEA-043E7094F1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0054974"/>
              </p:ext>
            </p:extLst>
          </p:nvPr>
        </p:nvGraphicFramePr>
        <p:xfrm>
          <a:off x="159027" y="2290021"/>
          <a:ext cx="8110332" cy="4293070"/>
        </p:xfrm>
        <a:graphic>
          <a:graphicData uri="http://schemas.openxmlformats.org/drawingml/2006/table">
            <a:tbl>
              <a:tblPr/>
              <a:tblGrid>
                <a:gridCol w="1850415">
                  <a:extLst>
                    <a:ext uri="{9D8B030D-6E8A-4147-A177-3AD203B41FA5}">
                      <a16:colId xmlns:a16="http://schemas.microsoft.com/office/drawing/2014/main" val="3991981469"/>
                    </a:ext>
                  </a:extLst>
                </a:gridCol>
                <a:gridCol w="2086639">
                  <a:extLst>
                    <a:ext uri="{9D8B030D-6E8A-4147-A177-3AD203B41FA5}">
                      <a16:colId xmlns:a16="http://schemas.microsoft.com/office/drawing/2014/main" val="2637934266"/>
                    </a:ext>
                  </a:extLst>
                </a:gridCol>
                <a:gridCol w="2086639">
                  <a:extLst>
                    <a:ext uri="{9D8B030D-6E8A-4147-A177-3AD203B41FA5}">
                      <a16:colId xmlns:a16="http://schemas.microsoft.com/office/drawing/2014/main" val="575869358"/>
                    </a:ext>
                  </a:extLst>
                </a:gridCol>
                <a:gridCol w="2086639">
                  <a:extLst>
                    <a:ext uri="{9D8B030D-6E8A-4147-A177-3AD203B41FA5}">
                      <a16:colId xmlns:a16="http://schemas.microsoft.com/office/drawing/2014/main" val="1477998883"/>
                    </a:ext>
                  </a:extLst>
                </a:gridCol>
              </a:tblGrid>
              <a:tr h="17012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900" b="0" dirty="0">
                          <a:effectLst/>
                          <a:latin typeface="quote-cjk-patch"/>
                        </a:rPr>
                        <a:t>Поле</a:t>
                      </a:r>
                    </a:p>
                  </a:txBody>
                  <a:tcPr marL="46916" marR="62554" marT="39096" marB="3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900" b="0" dirty="0">
                          <a:effectLst/>
                          <a:latin typeface="quote-cjk-patch"/>
                        </a:rPr>
                        <a:t>Тип</a:t>
                      </a:r>
                    </a:p>
                  </a:txBody>
                  <a:tcPr marL="62554" marR="62554" marT="39096" marB="3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900" b="0" dirty="0">
                          <a:effectLst/>
                          <a:latin typeface="quote-cjk-patch"/>
                        </a:rPr>
                        <a:t>Обязательное</a:t>
                      </a:r>
                    </a:p>
                  </a:txBody>
                  <a:tcPr marL="62554" marR="62554" marT="39096" marB="3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900" b="0" dirty="0">
                          <a:effectLst/>
                          <a:latin typeface="quote-cjk-patch"/>
                        </a:rPr>
                        <a:t>Бизнес-значение</a:t>
                      </a:r>
                    </a:p>
                  </a:txBody>
                  <a:tcPr marL="62554" marR="62554" marT="39096" marB="3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275744"/>
                  </a:ext>
                </a:extLst>
              </a:tr>
              <a:tr h="170129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900" b="0" dirty="0" err="1">
                          <a:effectLst/>
                          <a:latin typeface="Menlo"/>
                        </a:rPr>
                        <a:t>field_id</a:t>
                      </a:r>
                      <a:endParaRPr lang="en-US" sz="900" b="0" dirty="0">
                        <a:effectLst/>
                        <a:latin typeface="quote-cjk-patch"/>
                      </a:endParaRPr>
                    </a:p>
                  </a:txBody>
                  <a:tcPr marL="46916" marR="62554" marT="39096" marB="3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900" b="0">
                          <a:effectLst/>
                          <a:latin typeface="quote-cjk-patch"/>
                        </a:rPr>
                        <a:t>bigserial</a:t>
                      </a:r>
                    </a:p>
                  </a:txBody>
                  <a:tcPr marL="62554" marR="62554" marT="39096" marB="3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900" b="0" dirty="0">
                          <a:effectLst/>
                          <a:latin typeface="quote-cjk-patch"/>
                        </a:rPr>
                        <a:t>Да</a:t>
                      </a:r>
                    </a:p>
                  </a:txBody>
                  <a:tcPr marL="62554" marR="62554" marT="39096" marB="3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900" b="0" dirty="0">
                          <a:effectLst/>
                          <a:latin typeface="quote-cjk-patch"/>
                        </a:rPr>
                        <a:t>Уникальный </a:t>
                      </a:r>
                      <a:r>
                        <a:rPr lang="en-US" sz="900" b="0" dirty="0">
                          <a:effectLst/>
                          <a:latin typeface="quote-cjk-patch"/>
                        </a:rPr>
                        <a:t>ID </a:t>
                      </a:r>
                      <a:r>
                        <a:rPr lang="ru-RU" sz="900" b="0" dirty="0">
                          <a:effectLst/>
                          <a:latin typeface="quote-cjk-patch"/>
                        </a:rPr>
                        <a:t>направления</a:t>
                      </a:r>
                    </a:p>
                  </a:txBody>
                  <a:tcPr marL="62554" marR="46916" marT="39096" marB="3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1464229"/>
                  </a:ext>
                </a:extLst>
              </a:tr>
              <a:tr h="453904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900" b="0">
                          <a:effectLst/>
                          <a:latin typeface="Menlo"/>
                        </a:rPr>
                        <a:t>field_code</a:t>
                      </a:r>
                      <a:endParaRPr lang="en-US" sz="900" b="0">
                        <a:effectLst/>
                        <a:latin typeface="quote-cjk-patch"/>
                      </a:endParaRPr>
                    </a:p>
                  </a:txBody>
                  <a:tcPr marL="46916" marR="62554" marT="39096" marB="3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900" b="0">
                          <a:effectLst/>
                          <a:latin typeface="quote-cjk-patch"/>
                        </a:rPr>
                        <a:t>varchar</a:t>
                      </a:r>
                    </a:p>
                  </a:txBody>
                  <a:tcPr marL="62554" marR="62554" marT="39096" marB="3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900" b="0">
                          <a:effectLst/>
                          <a:latin typeface="quote-cjk-patch"/>
                        </a:rPr>
                        <a:t>Да</a:t>
                      </a:r>
                    </a:p>
                  </a:txBody>
                  <a:tcPr marL="62554" marR="62554" marT="39096" marB="3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900" b="0">
                          <a:effectLst/>
                          <a:latin typeface="quote-cjk-patch"/>
                        </a:rPr>
                        <a:t>Код направления по классификатору (например, "03.03.01")</a:t>
                      </a:r>
                    </a:p>
                  </a:txBody>
                  <a:tcPr marL="62554" marR="46916" marT="39096" marB="3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394042"/>
                  </a:ext>
                </a:extLst>
              </a:tr>
              <a:tr h="453904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900" b="0" dirty="0" err="1">
                          <a:effectLst/>
                          <a:latin typeface="Menlo"/>
                        </a:rPr>
                        <a:t>field_name</a:t>
                      </a:r>
                      <a:endParaRPr lang="en-US" sz="900" b="0" dirty="0">
                        <a:effectLst/>
                        <a:latin typeface="quote-cjk-patch"/>
                      </a:endParaRPr>
                    </a:p>
                  </a:txBody>
                  <a:tcPr marL="46916" marR="62554" marT="39096" marB="3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900" b="0" dirty="0">
                          <a:effectLst/>
                          <a:latin typeface="quote-cjk-patch"/>
                        </a:rPr>
                        <a:t>varchar</a:t>
                      </a:r>
                    </a:p>
                  </a:txBody>
                  <a:tcPr marL="62554" marR="62554" marT="39096" marB="3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900" b="0">
                          <a:effectLst/>
                          <a:latin typeface="quote-cjk-patch"/>
                        </a:rPr>
                        <a:t>Да</a:t>
                      </a:r>
                    </a:p>
                  </a:txBody>
                  <a:tcPr marL="62554" marR="62554" marT="39096" marB="3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900" b="0">
                          <a:effectLst/>
                          <a:latin typeface="quote-cjk-patch"/>
                        </a:rPr>
                        <a:t>Полное название направления (например, "Прикладная информатика")</a:t>
                      </a:r>
                    </a:p>
                  </a:txBody>
                  <a:tcPr marL="62554" marR="46916" marT="39096" marB="3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8658358"/>
                  </a:ext>
                </a:extLst>
              </a:tr>
              <a:tr h="453904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900" b="0">
                          <a:effectLst/>
                          <a:latin typeface="Menlo"/>
                        </a:rPr>
                        <a:t>degree_level</a:t>
                      </a:r>
                      <a:endParaRPr lang="en-US" sz="900" b="0">
                        <a:effectLst/>
                        <a:latin typeface="quote-cjk-patch"/>
                      </a:endParaRPr>
                    </a:p>
                  </a:txBody>
                  <a:tcPr marL="46916" marR="62554" marT="39096" marB="3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900" b="0">
                          <a:effectLst/>
                          <a:latin typeface="quote-cjk-patch"/>
                        </a:rPr>
                        <a:t>varchar</a:t>
                      </a:r>
                    </a:p>
                  </a:txBody>
                  <a:tcPr marL="62554" marR="62554" marT="39096" marB="3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900" b="0">
                          <a:effectLst/>
                          <a:latin typeface="quote-cjk-patch"/>
                        </a:rPr>
                        <a:t>Да</a:t>
                      </a:r>
                    </a:p>
                  </a:txBody>
                  <a:tcPr marL="62554" marR="62554" marT="39096" marB="3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900" b="0">
                          <a:effectLst/>
                          <a:latin typeface="quote-cjk-patch"/>
                        </a:rPr>
                        <a:t>Уровень образования: "Бакалавриат", "Магистратура", "Специалитет"</a:t>
                      </a:r>
                    </a:p>
                  </a:txBody>
                  <a:tcPr marL="62554" marR="46916" marT="39096" marB="3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278668"/>
                  </a:ext>
                </a:extLst>
              </a:tr>
              <a:tr h="312017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900" b="0">
                          <a:effectLst/>
                          <a:latin typeface="Menlo"/>
                        </a:rPr>
                        <a:t>study_length</a:t>
                      </a:r>
                      <a:endParaRPr lang="en-US" sz="900" b="0">
                        <a:effectLst/>
                        <a:latin typeface="quote-cjk-patch"/>
                      </a:endParaRPr>
                    </a:p>
                  </a:txBody>
                  <a:tcPr marL="46916" marR="62554" marT="39096" marB="3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900" b="0">
                          <a:effectLst/>
                          <a:latin typeface="quote-cjk-patch"/>
                        </a:rPr>
                        <a:t>integer</a:t>
                      </a:r>
                    </a:p>
                  </a:txBody>
                  <a:tcPr marL="62554" marR="62554" marT="39096" marB="3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900" b="0">
                          <a:effectLst/>
                          <a:latin typeface="quote-cjk-patch"/>
                        </a:rPr>
                        <a:t>Да</a:t>
                      </a:r>
                    </a:p>
                  </a:txBody>
                  <a:tcPr marL="62554" marR="62554" marT="39096" marB="3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900" b="0" dirty="0">
                          <a:effectLst/>
                          <a:latin typeface="quote-cjk-patch"/>
                        </a:rPr>
                        <a:t>Продолжительность обучения в годах (обычно 4-6)</a:t>
                      </a:r>
                    </a:p>
                  </a:txBody>
                  <a:tcPr marL="62554" marR="46916" marT="39096" marB="3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7629275"/>
                  </a:ext>
                </a:extLst>
              </a:tr>
              <a:tr h="453904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900" b="0">
                          <a:effectLst/>
                          <a:latin typeface="Menlo"/>
                        </a:rPr>
                        <a:t>profile_name</a:t>
                      </a:r>
                      <a:endParaRPr lang="en-US" sz="900" b="0">
                        <a:effectLst/>
                        <a:latin typeface="quote-cjk-patch"/>
                      </a:endParaRPr>
                    </a:p>
                  </a:txBody>
                  <a:tcPr marL="46916" marR="62554" marT="39096" marB="3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900" b="0">
                          <a:effectLst/>
                          <a:latin typeface="quote-cjk-patch"/>
                        </a:rPr>
                        <a:t>varchar</a:t>
                      </a:r>
                    </a:p>
                  </a:txBody>
                  <a:tcPr marL="62554" marR="62554" marT="39096" marB="3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900" b="0">
                          <a:effectLst/>
                          <a:latin typeface="quote-cjk-patch"/>
                        </a:rPr>
                        <a:t>Да</a:t>
                      </a:r>
                    </a:p>
                  </a:txBody>
                  <a:tcPr marL="62554" marR="62554" marT="39096" marB="3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900" b="0">
                          <a:effectLst/>
                          <a:latin typeface="quote-cjk-patch"/>
                        </a:rPr>
                        <a:t>Профиль/специализация направления (должно быть уникальным)</a:t>
                      </a:r>
                    </a:p>
                  </a:txBody>
                  <a:tcPr marL="62554" marR="46916" marT="39096" marB="3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710995"/>
                  </a:ext>
                </a:extLst>
              </a:tr>
              <a:tr h="170129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900" b="0">
                          <a:effectLst/>
                          <a:latin typeface="Menlo"/>
                        </a:rPr>
                        <a:t>created_date</a:t>
                      </a:r>
                      <a:endParaRPr lang="en-US" sz="900" b="0">
                        <a:effectLst/>
                        <a:latin typeface="quote-cjk-patch"/>
                      </a:endParaRPr>
                    </a:p>
                  </a:txBody>
                  <a:tcPr marL="46916" marR="62554" marT="39096" marB="3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900" b="0">
                          <a:effectLst/>
                          <a:latin typeface="quote-cjk-patch"/>
                        </a:rPr>
                        <a:t>datetime</a:t>
                      </a:r>
                    </a:p>
                  </a:txBody>
                  <a:tcPr marL="62554" marR="62554" marT="39096" marB="3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900" b="0">
                          <a:effectLst/>
                          <a:latin typeface="quote-cjk-patch"/>
                        </a:rPr>
                        <a:t>Да</a:t>
                      </a:r>
                    </a:p>
                  </a:txBody>
                  <a:tcPr marL="62554" marR="62554" marT="39096" marB="3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900" b="0">
                          <a:effectLst/>
                          <a:latin typeface="quote-cjk-patch"/>
                        </a:rPr>
                        <a:t>Дата создания записи</a:t>
                      </a:r>
                    </a:p>
                  </a:txBody>
                  <a:tcPr marL="62554" marR="46916" marT="39096" marB="3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6995549"/>
                  </a:ext>
                </a:extLst>
              </a:tr>
              <a:tr h="312017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900" b="0">
                          <a:effectLst/>
                          <a:latin typeface="Menlo"/>
                        </a:rPr>
                        <a:t>qualification</a:t>
                      </a:r>
                      <a:endParaRPr lang="en-US" sz="900" b="0">
                        <a:effectLst/>
                        <a:latin typeface="quote-cjk-patch"/>
                      </a:endParaRPr>
                    </a:p>
                  </a:txBody>
                  <a:tcPr marL="46916" marR="62554" marT="39096" marB="3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900" b="0" dirty="0">
                          <a:effectLst/>
                          <a:latin typeface="quote-cjk-patch"/>
                        </a:rPr>
                        <a:t>varchar</a:t>
                      </a:r>
                    </a:p>
                  </a:txBody>
                  <a:tcPr marL="62554" marR="62554" marT="39096" marB="3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900" b="0">
                          <a:effectLst/>
                          <a:latin typeface="quote-cjk-patch"/>
                        </a:rPr>
                        <a:t>Нет</a:t>
                      </a:r>
                    </a:p>
                  </a:txBody>
                  <a:tcPr marL="62554" marR="62554" marT="39096" marB="3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900" b="0" dirty="0">
                          <a:effectLst/>
                          <a:latin typeface="quote-cjk-patch"/>
                        </a:rPr>
                        <a:t>Присваиваемая квалификация (например, "Бакалавр")</a:t>
                      </a:r>
                    </a:p>
                  </a:txBody>
                  <a:tcPr marL="62554" marR="46916" marT="39096" marB="390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8007962"/>
                  </a:ext>
                </a:extLst>
              </a:tr>
            </a:tbl>
          </a:graphicData>
        </a:graphic>
      </p:graphicFrame>
      <p:pic>
        <p:nvPicPr>
          <p:cNvPr id="24" name="Рисунок 2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F602F1E-28D2-5CCA-9242-8F3431032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5449" y="2290021"/>
            <a:ext cx="1723762" cy="223623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657E923-CBEA-DAA7-BE97-9034443F1F1C}"/>
              </a:ext>
            </a:extLst>
          </p:cNvPr>
          <p:cNvSpPr txBox="1"/>
          <p:nvPr/>
        </p:nvSpPr>
        <p:spPr>
          <a:xfrm>
            <a:off x="8490369" y="4688348"/>
            <a:ext cx="36376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effectLst/>
                <a:latin typeface="quote-cjk-patch"/>
              </a:rPr>
              <a:t>Бизнес-назначение</a:t>
            </a:r>
            <a:r>
              <a:rPr lang="ru-RU" b="0" i="0" dirty="0">
                <a:effectLst/>
                <a:latin typeface="quote-cjk-patch"/>
              </a:rPr>
              <a:t>: Справочник образовательных направлений, по которым создаются учебные планы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53374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2654F8-404A-276A-56E1-74B6BC290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/>
              <a:t>Таблица </a:t>
            </a:r>
            <a:r>
              <a:rPr lang="en-US" sz="3200" dirty="0"/>
              <a:t>curriculum (</a:t>
            </a:r>
            <a:r>
              <a:rPr lang="ru-RU" sz="3200" dirty="0"/>
              <a:t>Учебные планы)</a:t>
            </a:r>
            <a:br>
              <a:rPr lang="ru-RU" sz="2800" dirty="0"/>
            </a:br>
            <a:endParaRPr lang="ru-RU" sz="2800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B6181002-DAD8-702F-6BB1-9D926E26FA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2142336"/>
              </p:ext>
            </p:extLst>
          </p:nvPr>
        </p:nvGraphicFramePr>
        <p:xfrm>
          <a:off x="205409" y="2135547"/>
          <a:ext cx="6798576" cy="4515882"/>
        </p:xfrm>
        <a:graphic>
          <a:graphicData uri="http://schemas.openxmlformats.org/drawingml/2006/table">
            <a:tbl>
              <a:tblPr/>
              <a:tblGrid>
                <a:gridCol w="1551132">
                  <a:extLst>
                    <a:ext uri="{9D8B030D-6E8A-4147-A177-3AD203B41FA5}">
                      <a16:colId xmlns:a16="http://schemas.microsoft.com/office/drawing/2014/main" val="3574932251"/>
                    </a:ext>
                  </a:extLst>
                </a:gridCol>
                <a:gridCol w="1749148">
                  <a:extLst>
                    <a:ext uri="{9D8B030D-6E8A-4147-A177-3AD203B41FA5}">
                      <a16:colId xmlns:a16="http://schemas.microsoft.com/office/drawing/2014/main" val="3303806258"/>
                    </a:ext>
                  </a:extLst>
                </a:gridCol>
                <a:gridCol w="1749148">
                  <a:extLst>
                    <a:ext uri="{9D8B030D-6E8A-4147-A177-3AD203B41FA5}">
                      <a16:colId xmlns:a16="http://schemas.microsoft.com/office/drawing/2014/main" val="2127315353"/>
                    </a:ext>
                  </a:extLst>
                </a:gridCol>
                <a:gridCol w="1749148">
                  <a:extLst>
                    <a:ext uri="{9D8B030D-6E8A-4147-A177-3AD203B41FA5}">
                      <a16:colId xmlns:a16="http://schemas.microsoft.com/office/drawing/2014/main" val="11862887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800" b="0" dirty="0">
                          <a:effectLst/>
                          <a:latin typeface="quote-cjk-patch"/>
                        </a:rPr>
                        <a:t>Поле</a:t>
                      </a:r>
                    </a:p>
                  </a:txBody>
                  <a:tcPr marL="42990" marR="5732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800" b="0" dirty="0">
                          <a:effectLst/>
                          <a:latin typeface="quote-cjk-patch"/>
                        </a:rPr>
                        <a:t>Тип</a:t>
                      </a:r>
                    </a:p>
                  </a:txBody>
                  <a:tcPr marL="57320" marR="5732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800" b="0">
                          <a:effectLst/>
                          <a:latin typeface="quote-cjk-patch"/>
                        </a:rPr>
                        <a:t>Обязательное</a:t>
                      </a:r>
                    </a:p>
                  </a:txBody>
                  <a:tcPr marL="57320" marR="5732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800" b="0" dirty="0">
                          <a:effectLst/>
                          <a:latin typeface="quote-cjk-patch"/>
                        </a:rPr>
                        <a:t>Бизнес-значение</a:t>
                      </a:r>
                    </a:p>
                  </a:txBody>
                  <a:tcPr marL="57320" marR="5732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8212638"/>
                  </a:ext>
                </a:extLst>
              </a:tr>
              <a:tr h="255935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Menlo"/>
                        </a:rPr>
                        <a:t>curriculum_id</a:t>
                      </a:r>
                      <a:endParaRPr lang="en-US" sz="800" b="0">
                        <a:effectLst/>
                        <a:latin typeface="quote-cjk-patch"/>
                      </a:endParaRPr>
                    </a:p>
                  </a:txBody>
                  <a:tcPr marL="42990" marR="5732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 dirty="0" err="1">
                          <a:effectLst/>
                          <a:latin typeface="quote-cjk-patch"/>
                        </a:rPr>
                        <a:t>bigserial</a:t>
                      </a:r>
                      <a:endParaRPr lang="en-US" sz="800" b="0" dirty="0">
                        <a:effectLst/>
                        <a:latin typeface="quote-cjk-patch"/>
                      </a:endParaRPr>
                    </a:p>
                  </a:txBody>
                  <a:tcPr marL="57320" marR="5732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800" b="0" dirty="0">
                          <a:effectLst/>
                          <a:latin typeface="quote-cjk-patch"/>
                        </a:rPr>
                        <a:t>Да</a:t>
                      </a:r>
                    </a:p>
                  </a:txBody>
                  <a:tcPr marL="57320" marR="5732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800" b="0">
                          <a:effectLst/>
                          <a:latin typeface="quote-cjk-patch"/>
                        </a:rPr>
                        <a:t>Уникальный </a:t>
                      </a:r>
                      <a:r>
                        <a:rPr lang="en-US" sz="800" b="0">
                          <a:effectLst/>
                          <a:latin typeface="quote-cjk-patch"/>
                        </a:rPr>
                        <a:t>ID </a:t>
                      </a:r>
                      <a:r>
                        <a:rPr lang="ru-RU" sz="800" b="0">
                          <a:effectLst/>
                          <a:latin typeface="quote-cjk-patch"/>
                        </a:rPr>
                        <a:t>учебного плана</a:t>
                      </a:r>
                    </a:p>
                  </a:txBody>
                  <a:tcPr marL="57320" marR="4299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02410"/>
                  </a:ext>
                </a:extLst>
              </a:tr>
              <a:tr h="37452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Menlo"/>
                        </a:rPr>
                        <a:t>field_id</a:t>
                      </a:r>
                      <a:endParaRPr lang="en-US" sz="800" b="0">
                        <a:effectLst/>
                        <a:latin typeface="quote-cjk-patch"/>
                      </a:endParaRPr>
                    </a:p>
                  </a:txBody>
                  <a:tcPr marL="42990" marR="5732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 dirty="0" err="1">
                          <a:effectLst/>
                          <a:latin typeface="quote-cjk-patch"/>
                        </a:rPr>
                        <a:t>bigint</a:t>
                      </a:r>
                      <a:endParaRPr lang="en-US" sz="800" b="0" dirty="0">
                        <a:effectLst/>
                        <a:latin typeface="quote-cjk-patch"/>
                      </a:endParaRPr>
                    </a:p>
                  </a:txBody>
                  <a:tcPr marL="57320" marR="5732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800" b="0">
                          <a:effectLst/>
                          <a:latin typeface="quote-cjk-patch"/>
                        </a:rPr>
                        <a:t>Да</a:t>
                      </a:r>
                    </a:p>
                  </a:txBody>
                  <a:tcPr marL="57320" marR="5732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800" b="0">
                          <a:effectLst/>
                          <a:latin typeface="quote-cjk-patch"/>
                        </a:rPr>
                        <a:t>Ссылка на направление подготовки (внешний ключ)</a:t>
                      </a:r>
                    </a:p>
                  </a:txBody>
                  <a:tcPr marL="57320" marR="4299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4113889"/>
                  </a:ext>
                </a:extLst>
              </a:tr>
              <a:tr h="37452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Menlo"/>
                        </a:rPr>
                        <a:t>curriculum_name</a:t>
                      </a:r>
                      <a:endParaRPr lang="en-US" sz="800" b="0">
                        <a:effectLst/>
                        <a:latin typeface="quote-cjk-patch"/>
                      </a:endParaRPr>
                    </a:p>
                  </a:txBody>
                  <a:tcPr marL="42990" marR="5732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varchar</a:t>
                      </a:r>
                    </a:p>
                  </a:txBody>
                  <a:tcPr marL="57320" marR="5732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800" b="0">
                          <a:effectLst/>
                          <a:latin typeface="quote-cjk-patch"/>
                        </a:rPr>
                        <a:t>Да</a:t>
                      </a:r>
                    </a:p>
                  </a:txBody>
                  <a:tcPr marL="57320" marR="5732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800" b="0">
                          <a:effectLst/>
                          <a:latin typeface="quote-cjk-patch"/>
                        </a:rPr>
                        <a:t>Название учебного плана (например, "План 2024-2025")</a:t>
                      </a:r>
                    </a:p>
                  </a:txBody>
                  <a:tcPr marL="57320" marR="4299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7646650"/>
                  </a:ext>
                </a:extLst>
              </a:tr>
              <a:tr h="255935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Menlo"/>
                        </a:rPr>
                        <a:t>year_start</a:t>
                      </a:r>
                      <a:endParaRPr lang="en-US" sz="800" b="0">
                        <a:effectLst/>
                        <a:latin typeface="quote-cjk-patch"/>
                      </a:endParaRPr>
                    </a:p>
                  </a:txBody>
                  <a:tcPr marL="42990" marR="5732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integer</a:t>
                      </a:r>
                    </a:p>
                  </a:txBody>
                  <a:tcPr marL="57320" marR="5732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800" b="0">
                          <a:effectLst/>
                          <a:latin typeface="quote-cjk-patch"/>
                        </a:rPr>
                        <a:t>Да</a:t>
                      </a:r>
                    </a:p>
                  </a:txBody>
                  <a:tcPr marL="57320" marR="5732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800" b="0">
                          <a:effectLst/>
                          <a:latin typeface="quote-cjk-patch"/>
                        </a:rPr>
                        <a:t>Год начала действия плана</a:t>
                      </a:r>
                    </a:p>
                  </a:txBody>
                  <a:tcPr marL="57320" marR="4299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998379"/>
                  </a:ext>
                </a:extLst>
              </a:tr>
              <a:tr h="255935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Menlo"/>
                        </a:rPr>
                        <a:t>year_end</a:t>
                      </a:r>
                      <a:endParaRPr lang="en-US" sz="800" b="0">
                        <a:effectLst/>
                        <a:latin typeface="quote-cjk-patch"/>
                      </a:endParaRPr>
                    </a:p>
                  </a:txBody>
                  <a:tcPr marL="42990" marR="5732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integer</a:t>
                      </a:r>
                    </a:p>
                  </a:txBody>
                  <a:tcPr marL="57320" marR="5732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800" b="0">
                          <a:effectLst/>
                          <a:latin typeface="quote-cjk-patch"/>
                        </a:rPr>
                        <a:t>Да</a:t>
                      </a:r>
                    </a:p>
                  </a:txBody>
                  <a:tcPr marL="57320" marR="5732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800" b="0">
                          <a:effectLst/>
                          <a:latin typeface="quote-cjk-patch"/>
                        </a:rPr>
                        <a:t>Год окончания действия плана</a:t>
                      </a:r>
                    </a:p>
                  </a:txBody>
                  <a:tcPr marL="57320" marR="4299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3447544"/>
                  </a:ext>
                </a:extLst>
              </a:tr>
              <a:tr h="234091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Menlo"/>
                        </a:rPr>
                        <a:t>archive_status</a:t>
                      </a:r>
                      <a:endParaRPr lang="en-US" sz="800" b="0">
                        <a:effectLst/>
                        <a:latin typeface="quote-cjk-patch"/>
                      </a:endParaRPr>
                    </a:p>
                  </a:txBody>
                  <a:tcPr marL="42990" marR="5732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boolean</a:t>
                      </a:r>
                    </a:p>
                  </a:txBody>
                  <a:tcPr marL="57320" marR="5732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800" b="0">
                          <a:effectLst/>
                          <a:latin typeface="quote-cjk-patch"/>
                        </a:rPr>
                        <a:t>Да</a:t>
                      </a:r>
                    </a:p>
                  </a:txBody>
                  <a:tcPr marL="57320" marR="5732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ru-RU" sz="800" b="0">
                          <a:effectLst/>
                          <a:latin typeface="quote-cjk-patch"/>
                        </a:rPr>
                        <a:t>Флаг архивации: </a:t>
                      </a:r>
                      <a:r>
                        <a:rPr lang="ru-RU" sz="800" b="0">
                          <a:effectLst/>
                          <a:latin typeface="Menlo"/>
                        </a:rPr>
                        <a:t>false</a:t>
                      </a:r>
                      <a:r>
                        <a:rPr lang="ru-RU" sz="800" b="0">
                          <a:effectLst/>
                          <a:latin typeface="quote-cjk-patch"/>
                        </a:rPr>
                        <a:t> - активен, </a:t>
                      </a:r>
                      <a:r>
                        <a:rPr lang="ru-RU" sz="800" b="0">
                          <a:effectLst/>
                          <a:latin typeface="Menlo"/>
                        </a:rPr>
                        <a:t>true</a:t>
                      </a:r>
                      <a:r>
                        <a:rPr lang="ru-RU" sz="800" b="0">
                          <a:effectLst/>
                          <a:latin typeface="quote-cjk-patch"/>
                        </a:rPr>
                        <a:t> - в архиве</a:t>
                      </a:r>
                    </a:p>
                  </a:txBody>
                  <a:tcPr marL="57320" marR="4299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5389878"/>
                  </a:ext>
                </a:extLst>
              </a:tr>
              <a:tr h="137351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Menlo"/>
                        </a:rPr>
                        <a:t>created_date</a:t>
                      </a:r>
                      <a:endParaRPr lang="en-US" sz="800" b="0">
                        <a:effectLst/>
                        <a:latin typeface="quote-cjk-patch"/>
                      </a:endParaRPr>
                    </a:p>
                  </a:txBody>
                  <a:tcPr marL="42990" marR="5732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datetime</a:t>
                      </a:r>
                    </a:p>
                  </a:txBody>
                  <a:tcPr marL="57320" marR="5732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800" b="0">
                          <a:effectLst/>
                          <a:latin typeface="quote-cjk-patch"/>
                        </a:rPr>
                        <a:t>Да</a:t>
                      </a:r>
                    </a:p>
                  </a:txBody>
                  <a:tcPr marL="57320" marR="5732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800" b="0">
                          <a:effectLst/>
                          <a:latin typeface="quote-cjk-patch"/>
                        </a:rPr>
                        <a:t>Дата создания плана</a:t>
                      </a:r>
                    </a:p>
                  </a:txBody>
                  <a:tcPr marL="57320" marR="4299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3680626"/>
                  </a:ext>
                </a:extLst>
              </a:tr>
              <a:tr h="255935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Menlo"/>
                        </a:rPr>
                        <a:t>last_modified</a:t>
                      </a:r>
                      <a:endParaRPr lang="en-US" sz="800" b="0">
                        <a:effectLst/>
                        <a:latin typeface="quote-cjk-patch"/>
                      </a:endParaRPr>
                    </a:p>
                  </a:txBody>
                  <a:tcPr marL="42990" marR="5732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datetime</a:t>
                      </a:r>
                    </a:p>
                  </a:txBody>
                  <a:tcPr marL="57320" marR="5732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800" b="0">
                          <a:effectLst/>
                          <a:latin typeface="quote-cjk-patch"/>
                        </a:rPr>
                        <a:t>Нет</a:t>
                      </a:r>
                    </a:p>
                  </a:txBody>
                  <a:tcPr marL="57320" marR="5732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800" b="0">
                          <a:effectLst/>
                          <a:latin typeface="quote-cjk-patch"/>
                        </a:rPr>
                        <a:t>Дата последнего изменения</a:t>
                      </a:r>
                    </a:p>
                  </a:txBody>
                  <a:tcPr marL="57320" marR="4299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590544"/>
                  </a:ext>
                </a:extLst>
              </a:tr>
              <a:tr h="255935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Menlo"/>
                        </a:rPr>
                        <a:t>file_path</a:t>
                      </a:r>
                      <a:endParaRPr lang="en-US" sz="800" b="0">
                        <a:effectLst/>
                        <a:latin typeface="quote-cjk-patch"/>
                      </a:endParaRPr>
                    </a:p>
                  </a:txBody>
                  <a:tcPr marL="42990" marR="5732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varchar</a:t>
                      </a:r>
                    </a:p>
                  </a:txBody>
                  <a:tcPr marL="57320" marR="5732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800" b="0">
                          <a:effectLst/>
                          <a:latin typeface="quote-cjk-patch"/>
                        </a:rPr>
                        <a:t>Нет</a:t>
                      </a:r>
                    </a:p>
                  </a:txBody>
                  <a:tcPr marL="57320" marR="5732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800" b="0">
                          <a:effectLst/>
                          <a:latin typeface="quote-cjk-patch"/>
                        </a:rPr>
                        <a:t>Путь к файлу плана на сервере</a:t>
                      </a:r>
                    </a:p>
                  </a:txBody>
                  <a:tcPr marL="57320" marR="4299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7181466"/>
                  </a:ext>
                </a:extLst>
              </a:tr>
              <a:tr h="255935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Menlo"/>
                        </a:rPr>
                        <a:t>course</a:t>
                      </a:r>
                      <a:endParaRPr lang="en-US" sz="800" b="0">
                        <a:effectLst/>
                        <a:latin typeface="quote-cjk-patch"/>
                      </a:endParaRPr>
                    </a:p>
                  </a:txBody>
                  <a:tcPr marL="42990" marR="5732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integer</a:t>
                      </a:r>
                    </a:p>
                  </a:txBody>
                  <a:tcPr marL="57320" marR="5732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800" b="0">
                          <a:effectLst/>
                          <a:latin typeface="quote-cjk-patch"/>
                        </a:rPr>
                        <a:t>Да</a:t>
                      </a:r>
                    </a:p>
                  </a:txBody>
                  <a:tcPr marL="57320" marR="5732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800" b="0">
                          <a:effectLst/>
                          <a:latin typeface="quote-cjk-patch"/>
                        </a:rPr>
                        <a:t>Курс/год обучения (1-й курс, 2-й курс и т.д.)</a:t>
                      </a:r>
                    </a:p>
                  </a:txBody>
                  <a:tcPr marL="57320" marR="4299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3185544"/>
                  </a:ext>
                </a:extLst>
              </a:tr>
              <a:tr h="255935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Menlo"/>
                        </a:rPr>
                        <a:t>status</a:t>
                      </a:r>
                      <a:endParaRPr lang="en-US" sz="800" b="0">
                        <a:effectLst/>
                        <a:latin typeface="quote-cjk-patch"/>
                      </a:endParaRPr>
                    </a:p>
                  </a:txBody>
                  <a:tcPr marL="42990" marR="5732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varchar</a:t>
                      </a:r>
                    </a:p>
                  </a:txBody>
                  <a:tcPr marL="57320" marR="5732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800" b="0">
                          <a:effectLst/>
                          <a:latin typeface="quote-cjk-patch"/>
                        </a:rPr>
                        <a:t>Да</a:t>
                      </a:r>
                    </a:p>
                  </a:txBody>
                  <a:tcPr marL="57320" marR="5732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800" b="0" dirty="0">
                          <a:effectLst/>
                          <a:latin typeface="quote-cjk-patch"/>
                        </a:rPr>
                        <a:t>Статус/версия плана (например, "1.00", "2.01")</a:t>
                      </a:r>
                    </a:p>
                  </a:txBody>
                  <a:tcPr marL="57320" marR="42990" marT="35825" marB="35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167586"/>
                  </a:ext>
                </a:extLst>
              </a:tr>
            </a:tbl>
          </a:graphicData>
        </a:graphic>
      </p:graphicFrame>
      <p:pic>
        <p:nvPicPr>
          <p:cNvPr id="7" name="Рисунок 6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B4694CB-6E50-E19D-D7EA-17658B675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100" y="2135547"/>
            <a:ext cx="2000529" cy="30007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847AEBD-B81C-30A4-0C99-5D0345855E3B}"/>
              </a:ext>
            </a:extLst>
          </p:cNvPr>
          <p:cNvSpPr txBox="1"/>
          <p:nvPr/>
        </p:nvSpPr>
        <p:spPr>
          <a:xfrm>
            <a:off x="7250596" y="5136341"/>
            <a:ext cx="328488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effectLst/>
                <a:latin typeface="quote-cjk-patch"/>
              </a:rPr>
              <a:t>Бизнес-назначение</a:t>
            </a:r>
            <a:r>
              <a:rPr lang="ru-RU" b="0" i="0" dirty="0">
                <a:effectLst/>
                <a:latin typeface="quote-cjk-patch"/>
              </a:rPr>
              <a:t>: Основная таблица учебных планов. Каждый план привязан к одному направлению подготовки.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56990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2859E5-8355-945F-DEEA-218F2356D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/>
              <a:t>Таблица </a:t>
            </a:r>
            <a:r>
              <a:rPr lang="en-US" sz="3200" dirty="0"/>
              <a:t>discipline (</a:t>
            </a:r>
            <a:r>
              <a:rPr lang="ru-RU" sz="3200" dirty="0"/>
              <a:t>Дисциплины)</a:t>
            </a:r>
            <a:br>
              <a:rPr lang="ru-RU" sz="2800" dirty="0"/>
            </a:br>
            <a:endParaRPr lang="ru-RU" sz="2800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0DE985C3-3300-897D-45B4-6688ED3810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3941272"/>
              </p:ext>
            </p:extLst>
          </p:nvPr>
        </p:nvGraphicFramePr>
        <p:xfrm>
          <a:off x="178904" y="2269694"/>
          <a:ext cx="8217733" cy="4468255"/>
        </p:xfrm>
        <a:graphic>
          <a:graphicData uri="http://schemas.openxmlformats.org/drawingml/2006/table">
            <a:tbl>
              <a:tblPr/>
              <a:tblGrid>
                <a:gridCol w="1874920">
                  <a:extLst>
                    <a:ext uri="{9D8B030D-6E8A-4147-A177-3AD203B41FA5}">
                      <a16:colId xmlns:a16="http://schemas.microsoft.com/office/drawing/2014/main" val="3215494785"/>
                    </a:ext>
                  </a:extLst>
                </a:gridCol>
                <a:gridCol w="2114271">
                  <a:extLst>
                    <a:ext uri="{9D8B030D-6E8A-4147-A177-3AD203B41FA5}">
                      <a16:colId xmlns:a16="http://schemas.microsoft.com/office/drawing/2014/main" val="2297309282"/>
                    </a:ext>
                  </a:extLst>
                </a:gridCol>
                <a:gridCol w="2114271">
                  <a:extLst>
                    <a:ext uri="{9D8B030D-6E8A-4147-A177-3AD203B41FA5}">
                      <a16:colId xmlns:a16="http://schemas.microsoft.com/office/drawing/2014/main" val="3105987019"/>
                    </a:ext>
                  </a:extLst>
                </a:gridCol>
                <a:gridCol w="2114271">
                  <a:extLst>
                    <a:ext uri="{9D8B030D-6E8A-4147-A177-3AD203B41FA5}">
                      <a16:colId xmlns:a16="http://schemas.microsoft.com/office/drawing/2014/main" val="40131458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00" b="0" dirty="0">
                          <a:effectLst/>
                          <a:latin typeface="quote-cjk-patch"/>
                        </a:rPr>
                        <a:t>Поле</a:t>
                      </a:r>
                    </a:p>
                  </a:txBody>
                  <a:tcPr marL="51649" marR="68866" marT="43041" marB="43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00" b="0" dirty="0">
                          <a:effectLst/>
                          <a:latin typeface="quote-cjk-patch"/>
                        </a:rPr>
                        <a:t>Тип</a:t>
                      </a:r>
                    </a:p>
                  </a:txBody>
                  <a:tcPr marL="68866" marR="68866" marT="43041" marB="43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00" b="0" dirty="0">
                          <a:effectLst/>
                          <a:latin typeface="quote-cjk-patch"/>
                        </a:rPr>
                        <a:t>Обязательное</a:t>
                      </a:r>
                    </a:p>
                  </a:txBody>
                  <a:tcPr marL="68866" marR="68866" marT="43041" marB="43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00" b="0" dirty="0">
                          <a:effectLst/>
                          <a:latin typeface="quote-cjk-patch"/>
                        </a:rPr>
                        <a:t>Бизнес-значение</a:t>
                      </a:r>
                    </a:p>
                  </a:txBody>
                  <a:tcPr marL="68866" marR="68866" marT="43041" marB="43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7996762"/>
                  </a:ext>
                </a:extLst>
              </a:tr>
              <a:tr h="286648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000" b="0">
                          <a:effectLst/>
                          <a:latin typeface="Menlo"/>
                        </a:rPr>
                        <a:t>discipline_id</a:t>
                      </a:r>
                      <a:endParaRPr lang="en-US" sz="1000" b="0">
                        <a:effectLst/>
                        <a:latin typeface="quote-cjk-patch"/>
                      </a:endParaRPr>
                    </a:p>
                  </a:txBody>
                  <a:tcPr marL="51649" marR="68866" marT="43041" marB="43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>
                          <a:effectLst/>
                          <a:latin typeface="quote-cjk-patch"/>
                        </a:rPr>
                        <a:t>bigserial</a:t>
                      </a:r>
                    </a:p>
                  </a:txBody>
                  <a:tcPr marL="68866" marR="68866" marT="43041" marB="43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effectLst/>
                          <a:latin typeface="quote-cjk-patch"/>
                        </a:rPr>
                        <a:t>Да</a:t>
                      </a:r>
                    </a:p>
                  </a:txBody>
                  <a:tcPr marL="68866" marR="68866" marT="43041" marB="43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effectLst/>
                          <a:latin typeface="quote-cjk-patch"/>
                        </a:rPr>
                        <a:t>Уникальный </a:t>
                      </a:r>
                      <a:r>
                        <a:rPr lang="en-US" sz="1000" b="0">
                          <a:effectLst/>
                          <a:latin typeface="quote-cjk-patch"/>
                        </a:rPr>
                        <a:t>ID </a:t>
                      </a:r>
                      <a:r>
                        <a:rPr lang="ru-RU" sz="1000" b="0">
                          <a:effectLst/>
                          <a:latin typeface="quote-cjk-patch"/>
                        </a:rPr>
                        <a:t>дисциплины</a:t>
                      </a:r>
                    </a:p>
                  </a:txBody>
                  <a:tcPr marL="68866" marR="51649" marT="43041" marB="43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499925"/>
                  </a:ext>
                </a:extLst>
              </a:tr>
              <a:tr h="51676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000" b="0">
                          <a:effectLst/>
                          <a:latin typeface="Menlo"/>
                        </a:rPr>
                        <a:t>discipline_code</a:t>
                      </a:r>
                      <a:endParaRPr lang="en-US" sz="1000" b="0">
                        <a:effectLst/>
                        <a:latin typeface="quote-cjk-patch"/>
                      </a:endParaRPr>
                    </a:p>
                  </a:txBody>
                  <a:tcPr marL="51649" marR="68866" marT="43041" marB="43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>
                          <a:effectLst/>
                          <a:latin typeface="quote-cjk-patch"/>
                        </a:rPr>
                        <a:t>varchar</a:t>
                      </a:r>
                    </a:p>
                  </a:txBody>
                  <a:tcPr marL="68866" marR="68866" marT="43041" marB="43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effectLst/>
                          <a:latin typeface="quote-cjk-patch"/>
                        </a:rPr>
                        <a:t>Нет</a:t>
                      </a:r>
                    </a:p>
                  </a:txBody>
                  <a:tcPr marL="68866" marR="68866" marT="43041" marB="43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effectLst/>
                          <a:latin typeface="quote-cjk-patch"/>
                        </a:rPr>
                        <a:t>Код дисциплины по учебному плану</a:t>
                      </a:r>
                    </a:p>
                  </a:txBody>
                  <a:tcPr marL="68866" marR="51649" marT="43041" marB="43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7367583"/>
                  </a:ext>
                </a:extLst>
              </a:tr>
              <a:tr h="51676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000" b="0">
                          <a:effectLst/>
                          <a:latin typeface="Menlo"/>
                        </a:rPr>
                        <a:t>discipline_name</a:t>
                      </a:r>
                      <a:endParaRPr lang="en-US" sz="1000" b="0">
                        <a:effectLst/>
                        <a:latin typeface="quote-cjk-patch"/>
                      </a:endParaRPr>
                    </a:p>
                  </a:txBody>
                  <a:tcPr marL="51649" marR="68866" marT="43041" marB="43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>
                          <a:effectLst/>
                          <a:latin typeface="quote-cjk-patch"/>
                        </a:rPr>
                        <a:t>varchar</a:t>
                      </a:r>
                    </a:p>
                  </a:txBody>
                  <a:tcPr marL="68866" marR="68866" marT="43041" marB="43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 dirty="0">
                          <a:effectLst/>
                          <a:latin typeface="quote-cjk-patch"/>
                        </a:rPr>
                        <a:t>Да</a:t>
                      </a:r>
                    </a:p>
                  </a:txBody>
                  <a:tcPr marL="68866" marR="68866" marT="43041" marB="43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effectLst/>
                          <a:latin typeface="quote-cjk-patch"/>
                        </a:rPr>
                        <a:t>Название дисциплины (например, "Базы данных")</a:t>
                      </a:r>
                    </a:p>
                  </a:txBody>
                  <a:tcPr marL="68866" marR="51649" marT="43041" marB="43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222374"/>
                  </a:ext>
                </a:extLst>
              </a:tr>
              <a:tr h="51676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000" b="0">
                          <a:effectLst/>
                          <a:latin typeface="Menlo"/>
                        </a:rPr>
                        <a:t>hours_total</a:t>
                      </a:r>
                      <a:endParaRPr lang="en-US" sz="1000" b="0">
                        <a:effectLst/>
                        <a:latin typeface="quote-cjk-patch"/>
                      </a:endParaRPr>
                    </a:p>
                  </a:txBody>
                  <a:tcPr marL="51649" marR="68866" marT="43041" marB="43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>
                          <a:effectLst/>
                          <a:latin typeface="quote-cjk-patch"/>
                        </a:rPr>
                        <a:t>integer</a:t>
                      </a:r>
                    </a:p>
                  </a:txBody>
                  <a:tcPr marL="68866" marR="68866" marT="43041" marB="43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effectLst/>
                          <a:latin typeface="quote-cjk-patch"/>
                        </a:rPr>
                        <a:t>Да</a:t>
                      </a:r>
                    </a:p>
                  </a:txBody>
                  <a:tcPr marL="68866" marR="68866" marT="43041" marB="43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effectLst/>
                          <a:latin typeface="quote-cjk-patch"/>
                        </a:rPr>
                        <a:t>Общее количество часов по дисциплине</a:t>
                      </a:r>
                    </a:p>
                  </a:txBody>
                  <a:tcPr marL="68866" marR="51649" marT="43041" marB="43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7488669"/>
                  </a:ext>
                </a:extLst>
              </a:tr>
              <a:tr h="424775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000" b="0">
                          <a:effectLst/>
                          <a:latin typeface="Menlo"/>
                        </a:rPr>
                        <a:t>hours_independent</a:t>
                      </a:r>
                      <a:endParaRPr lang="en-US" sz="1000" b="0">
                        <a:effectLst/>
                        <a:latin typeface="quote-cjk-patch"/>
                      </a:endParaRPr>
                    </a:p>
                  </a:txBody>
                  <a:tcPr marL="51649" marR="68866" marT="43041" marB="43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>
                          <a:effectLst/>
                          <a:latin typeface="quote-cjk-patch"/>
                        </a:rPr>
                        <a:t>integer</a:t>
                      </a:r>
                    </a:p>
                  </a:txBody>
                  <a:tcPr marL="68866" marR="68866" marT="43041" marB="43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effectLst/>
                          <a:latin typeface="quote-cjk-patch"/>
                        </a:rPr>
                        <a:t>Нет</a:t>
                      </a:r>
                    </a:p>
                  </a:txBody>
                  <a:tcPr marL="68866" marR="68866" marT="43041" marB="43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effectLst/>
                          <a:latin typeface="quote-cjk-patch"/>
                        </a:rPr>
                        <a:t>Часы самостоятельной работы</a:t>
                      </a:r>
                    </a:p>
                  </a:txBody>
                  <a:tcPr marL="68866" marR="51649" marT="43041" marB="43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930977"/>
                  </a:ext>
                </a:extLst>
              </a:tr>
              <a:tr h="803078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000" b="0">
                          <a:effectLst/>
                          <a:latin typeface="Menlo"/>
                        </a:rPr>
                        <a:t>report</a:t>
                      </a:r>
                      <a:endParaRPr lang="en-US" sz="1000" b="0">
                        <a:effectLst/>
                        <a:latin typeface="quote-cjk-patch"/>
                      </a:endParaRPr>
                    </a:p>
                  </a:txBody>
                  <a:tcPr marL="51649" marR="68866" marT="43041" marB="43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>
                          <a:effectLst/>
                          <a:latin typeface="quote-cjk-patch"/>
                        </a:rPr>
                        <a:t>varchar</a:t>
                      </a:r>
                    </a:p>
                  </a:txBody>
                  <a:tcPr marL="68866" marR="68866" marT="43041" marB="43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effectLst/>
                          <a:latin typeface="quote-cjk-patch"/>
                        </a:rPr>
                        <a:t>Да</a:t>
                      </a:r>
                    </a:p>
                  </a:txBody>
                  <a:tcPr marL="68866" marR="68866" marT="43041" marB="43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effectLst/>
                          <a:latin typeface="quote-cjk-patch"/>
                        </a:rPr>
                        <a:t>Форма контроля: "экзамен", "зачет", "дифференцированный зачет"</a:t>
                      </a:r>
                    </a:p>
                  </a:txBody>
                  <a:tcPr marL="68866" marR="51649" marT="43041" marB="43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7174012"/>
                  </a:ext>
                </a:extLst>
              </a:tr>
              <a:tr h="424775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000" b="0">
                          <a:effectLst/>
                          <a:latin typeface="Menlo"/>
                        </a:rPr>
                        <a:t>description</a:t>
                      </a:r>
                      <a:endParaRPr lang="en-US" sz="1000" b="0">
                        <a:effectLst/>
                        <a:latin typeface="quote-cjk-patch"/>
                      </a:endParaRPr>
                    </a:p>
                  </a:txBody>
                  <a:tcPr marL="51649" marR="68866" marT="43041" marB="43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>
                          <a:effectLst/>
                          <a:latin typeface="quote-cjk-patch"/>
                        </a:rPr>
                        <a:t>varchar</a:t>
                      </a:r>
                    </a:p>
                  </a:txBody>
                  <a:tcPr marL="68866" marR="68866" marT="43041" marB="43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 dirty="0">
                          <a:effectLst/>
                          <a:latin typeface="quote-cjk-patch"/>
                        </a:rPr>
                        <a:t>Нет</a:t>
                      </a:r>
                    </a:p>
                  </a:txBody>
                  <a:tcPr marL="68866" marR="68866" marT="43041" marB="43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effectLst/>
                          <a:latin typeface="quote-cjk-patch"/>
                        </a:rPr>
                        <a:t>Подробное описание дисциплины</a:t>
                      </a:r>
                    </a:p>
                  </a:txBody>
                  <a:tcPr marL="68866" marR="51649" marT="43041" marB="43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9245768"/>
                  </a:ext>
                </a:extLst>
              </a:tr>
              <a:tr h="613927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000" b="0">
                          <a:effectLst/>
                          <a:latin typeface="Menlo"/>
                        </a:rPr>
                        <a:t>competencies</a:t>
                      </a:r>
                      <a:endParaRPr lang="en-US" sz="1000" b="0">
                        <a:effectLst/>
                        <a:latin typeface="quote-cjk-patch"/>
                      </a:endParaRPr>
                    </a:p>
                  </a:txBody>
                  <a:tcPr marL="51649" marR="68866" marT="43041" marB="43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>
                          <a:effectLst/>
                          <a:latin typeface="quote-cjk-patch"/>
                        </a:rPr>
                        <a:t>varchar</a:t>
                      </a:r>
                    </a:p>
                  </a:txBody>
                  <a:tcPr marL="68866" marR="68866" marT="43041" marB="43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effectLst/>
                          <a:latin typeface="quote-cjk-patch"/>
                        </a:rPr>
                        <a:t>Нет</a:t>
                      </a:r>
                    </a:p>
                  </a:txBody>
                  <a:tcPr marL="68866" marR="68866" marT="43041" marB="43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 dirty="0">
                          <a:effectLst/>
                          <a:latin typeface="quote-cjk-patch"/>
                        </a:rPr>
                        <a:t>Формируемые компетенции (текстовое поле)</a:t>
                      </a:r>
                    </a:p>
                  </a:txBody>
                  <a:tcPr marL="68866" marR="51649" marT="43041" marB="43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3860871"/>
                  </a:ext>
                </a:extLst>
              </a:tr>
            </a:tbl>
          </a:graphicData>
        </a:graphic>
      </p:graphicFrame>
      <p:pic>
        <p:nvPicPr>
          <p:cNvPr id="8" name="Рисунок 7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DBA9D27-2A96-9552-E169-63D31493F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6326" y="2269694"/>
            <a:ext cx="1914792" cy="22577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48DE133-6F10-5AEB-47F1-BBF51D4AA8B9}"/>
              </a:ext>
            </a:extLst>
          </p:cNvPr>
          <p:cNvSpPr txBox="1"/>
          <p:nvPr/>
        </p:nvSpPr>
        <p:spPr>
          <a:xfrm>
            <a:off x="8714962" y="4640826"/>
            <a:ext cx="288069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effectLst/>
                <a:latin typeface="quote-cjk-patch"/>
              </a:rPr>
              <a:t>Бизнес-назначение</a:t>
            </a:r>
            <a:r>
              <a:rPr lang="ru-RU" b="0" i="0" dirty="0">
                <a:effectLst/>
                <a:latin typeface="quote-cjk-patch"/>
              </a:rPr>
              <a:t>: Справочник всех учебных дисциплин, которые можно добавлять в учебные планы.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96735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E48913-090F-67BF-89B7-7E14E5DBB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/>
              <a:t>Таблица </a:t>
            </a:r>
            <a:r>
              <a:rPr lang="en-US" sz="3200" dirty="0"/>
              <a:t>teacher (</a:t>
            </a:r>
            <a:r>
              <a:rPr lang="ru-RU" sz="3200" dirty="0"/>
              <a:t>Преподаватели)</a:t>
            </a:r>
            <a:br>
              <a:rPr lang="ru-RU" sz="3200" dirty="0"/>
            </a:br>
            <a:endParaRPr lang="ru-RU" sz="3200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532A9BC5-648F-F09D-2F01-2FFFD84958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2851931"/>
              </p:ext>
            </p:extLst>
          </p:nvPr>
        </p:nvGraphicFramePr>
        <p:xfrm>
          <a:off x="198783" y="2284452"/>
          <a:ext cx="7414693" cy="4358429"/>
        </p:xfrm>
        <a:graphic>
          <a:graphicData uri="http://schemas.openxmlformats.org/drawingml/2006/table">
            <a:tbl>
              <a:tblPr/>
              <a:tblGrid>
                <a:gridCol w="1691701">
                  <a:extLst>
                    <a:ext uri="{9D8B030D-6E8A-4147-A177-3AD203B41FA5}">
                      <a16:colId xmlns:a16="http://schemas.microsoft.com/office/drawing/2014/main" val="4169081385"/>
                    </a:ext>
                  </a:extLst>
                </a:gridCol>
                <a:gridCol w="1907664">
                  <a:extLst>
                    <a:ext uri="{9D8B030D-6E8A-4147-A177-3AD203B41FA5}">
                      <a16:colId xmlns:a16="http://schemas.microsoft.com/office/drawing/2014/main" val="2478251449"/>
                    </a:ext>
                  </a:extLst>
                </a:gridCol>
                <a:gridCol w="1907664">
                  <a:extLst>
                    <a:ext uri="{9D8B030D-6E8A-4147-A177-3AD203B41FA5}">
                      <a16:colId xmlns:a16="http://schemas.microsoft.com/office/drawing/2014/main" val="2537655379"/>
                    </a:ext>
                  </a:extLst>
                </a:gridCol>
                <a:gridCol w="1907664">
                  <a:extLst>
                    <a:ext uri="{9D8B030D-6E8A-4147-A177-3AD203B41FA5}">
                      <a16:colId xmlns:a16="http://schemas.microsoft.com/office/drawing/2014/main" val="547166178"/>
                    </a:ext>
                  </a:extLst>
                </a:gridCol>
              </a:tblGrid>
              <a:tr h="197844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00" b="0" dirty="0">
                          <a:effectLst/>
                          <a:latin typeface="quote-cjk-patch"/>
                        </a:rPr>
                        <a:t>Поле</a:t>
                      </a:r>
                    </a:p>
                  </a:txBody>
                  <a:tcPr marL="49183" marR="65577" marT="40986" marB="40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00" b="0" dirty="0">
                          <a:effectLst/>
                          <a:latin typeface="quote-cjk-patch"/>
                        </a:rPr>
                        <a:t>Тип</a:t>
                      </a:r>
                    </a:p>
                  </a:txBody>
                  <a:tcPr marL="65577" marR="65577" marT="40986" marB="40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00" b="0" dirty="0">
                          <a:effectLst/>
                          <a:latin typeface="quote-cjk-patch"/>
                        </a:rPr>
                        <a:t>Обязательное</a:t>
                      </a:r>
                    </a:p>
                  </a:txBody>
                  <a:tcPr marL="65577" marR="65577" marT="40986" marB="40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00" b="0" dirty="0">
                          <a:effectLst/>
                          <a:latin typeface="quote-cjk-patch"/>
                        </a:rPr>
                        <a:t>Бизнес-значение</a:t>
                      </a:r>
                    </a:p>
                  </a:txBody>
                  <a:tcPr marL="65577" marR="65577" marT="40986" marB="40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859739"/>
                  </a:ext>
                </a:extLst>
              </a:tr>
              <a:tr h="358868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000" b="0">
                          <a:effectLst/>
                          <a:latin typeface="Menlo"/>
                        </a:rPr>
                        <a:t>teacher_id</a:t>
                      </a:r>
                      <a:endParaRPr lang="en-US" sz="1000" b="0">
                        <a:effectLst/>
                        <a:latin typeface="quote-cjk-patch"/>
                      </a:endParaRPr>
                    </a:p>
                  </a:txBody>
                  <a:tcPr marL="49183" marR="65577" marT="40986" marB="40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>
                          <a:effectLst/>
                          <a:latin typeface="quote-cjk-patch"/>
                        </a:rPr>
                        <a:t>bigserial</a:t>
                      </a:r>
                    </a:p>
                  </a:txBody>
                  <a:tcPr marL="65577" marR="65577" marT="40986" marB="40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effectLst/>
                          <a:latin typeface="quote-cjk-patch"/>
                        </a:rPr>
                        <a:t>Да</a:t>
                      </a:r>
                    </a:p>
                  </a:txBody>
                  <a:tcPr marL="65577" marR="65577" marT="40986" marB="40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effectLst/>
                          <a:latin typeface="quote-cjk-patch"/>
                        </a:rPr>
                        <a:t>Уникальный </a:t>
                      </a:r>
                      <a:r>
                        <a:rPr lang="en-US" sz="1000" b="0">
                          <a:effectLst/>
                          <a:latin typeface="quote-cjk-patch"/>
                        </a:rPr>
                        <a:t>ID </a:t>
                      </a:r>
                      <a:r>
                        <a:rPr lang="ru-RU" sz="1000" b="0">
                          <a:effectLst/>
                          <a:latin typeface="quote-cjk-patch"/>
                        </a:rPr>
                        <a:t>преподавателя</a:t>
                      </a:r>
                    </a:p>
                  </a:txBody>
                  <a:tcPr marL="65577" marR="49183" marT="40986" marB="40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8598263"/>
                  </a:ext>
                </a:extLst>
              </a:tr>
              <a:tr h="358868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000" b="0">
                          <a:effectLst/>
                          <a:latin typeface="Menlo"/>
                        </a:rPr>
                        <a:t>fio</a:t>
                      </a:r>
                      <a:endParaRPr lang="en-US" sz="1000" b="0">
                        <a:effectLst/>
                        <a:latin typeface="quote-cjk-patch"/>
                      </a:endParaRPr>
                    </a:p>
                  </a:txBody>
                  <a:tcPr marL="49183" marR="65577" marT="40986" marB="40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>
                          <a:effectLst/>
                          <a:latin typeface="quote-cjk-patch"/>
                        </a:rPr>
                        <a:t>varchar</a:t>
                      </a:r>
                    </a:p>
                  </a:txBody>
                  <a:tcPr marL="65577" marR="65577" marT="40986" marB="40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 dirty="0">
                          <a:effectLst/>
                          <a:latin typeface="quote-cjk-patch"/>
                        </a:rPr>
                        <a:t>Да</a:t>
                      </a:r>
                    </a:p>
                  </a:txBody>
                  <a:tcPr marL="65577" marR="65577" marT="40986" marB="40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effectLst/>
                          <a:latin typeface="quote-cjk-patch"/>
                        </a:rPr>
                        <a:t>ФИО преподавателя полностью</a:t>
                      </a:r>
                    </a:p>
                  </a:txBody>
                  <a:tcPr marL="65577" marR="49183" marT="40986" marB="40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3260637"/>
                  </a:ext>
                </a:extLst>
              </a:tr>
              <a:tr h="519893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000" b="0">
                          <a:effectLst/>
                          <a:latin typeface="Menlo"/>
                        </a:rPr>
                        <a:t>department</a:t>
                      </a:r>
                      <a:endParaRPr lang="en-US" sz="1000" b="0">
                        <a:effectLst/>
                        <a:latin typeface="quote-cjk-patch"/>
                      </a:endParaRPr>
                    </a:p>
                  </a:txBody>
                  <a:tcPr marL="49183" marR="65577" marT="40986" marB="40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>
                          <a:effectLst/>
                          <a:latin typeface="quote-cjk-patch"/>
                        </a:rPr>
                        <a:t>varchar</a:t>
                      </a:r>
                    </a:p>
                  </a:txBody>
                  <a:tcPr marL="65577" marR="65577" marT="40986" marB="40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effectLst/>
                          <a:latin typeface="quote-cjk-patch"/>
                        </a:rPr>
                        <a:t>Да</a:t>
                      </a:r>
                    </a:p>
                  </a:txBody>
                  <a:tcPr marL="65577" marR="65577" marT="40986" marB="40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effectLst/>
                          <a:latin typeface="quote-cjk-patch"/>
                        </a:rPr>
                        <a:t>Кафедра/отдел, к которому прикреплен преподаватель</a:t>
                      </a:r>
                    </a:p>
                  </a:txBody>
                  <a:tcPr marL="65577" marR="49183" marT="40986" marB="40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6661651"/>
                  </a:ext>
                </a:extLst>
              </a:tr>
              <a:tr h="519893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000" b="0">
                          <a:effectLst/>
                          <a:latin typeface="Menlo"/>
                        </a:rPr>
                        <a:t>post</a:t>
                      </a:r>
                      <a:endParaRPr lang="en-US" sz="1000" b="0">
                        <a:effectLst/>
                        <a:latin typeface="quote-cjk-patch"/>
                      </a:endParaRPr>
                    </a:p>
                  </a:txBody>
                  <a:tcPr marL="49183" marR="65577" marT="40986" marB="40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>
                          <a:effectLst/>
                          <a:latin typeface="quote-cjk-patch"/>
                        </a:rPr>
                        <a:t>varchar</a:t>
                      </a:r>
                    </a:p>
                  </a:txBody>
                  <a:tcPr marL="65577" marR="65577" marT="40986" marB="40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effectLst/>
                          <a:latin typeface="quote-cjk-patch"/>
                        </a:rPr>
                        <a:t>Нет</a:t>
                      </a:r>
                    </a:p>
                  </a:txBody>
                  <a:tcPr marL="65577" marR="65577" marT="40986" marB="40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effectLst/>
                          <a:latin typeface="quote-cjk-patch"/>
                        </a:rPr>
                        <a:t>Должность (профессор, доцент, старший преподаватель)</a:t>
                      </a:r>
                    </a:p>
                  </a:txBody>
                  <a:tcPr marL="65577" marR="49183" marT="40986" marB="40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254276"/>
                  </a:ext>
                </a:extLst>
              </a:tr>
              <a:tr h="358868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000" b="0">
                          <a:effectLst/>
                          <a:latin typeface="Menlo"/>
                        </a:rPr>
                        <a:t>academic_status</a:t>
                      </a:r>
                      <a:endParaRPr lang="en-US" sz="1000" b="0">
                        <a:effectLst/>
                        <a:latin typeface="quote-cjk-patch"/>
                      </a:endParaRPr>
                    </a:p>
                  </a:txBody>
                  <a:tcPr marL="49183" marR="65577" marT="40986" marB="40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>
                          <a:effectLst/>
                          <a:latin typeface="quote-cjk-patch"/>
                        </a:rPr>
                        <a:t>varchar</a:t>
                      </a:r>
                    </a:p>
                  </a:txBody>
                  <a:tcPr marL="65577" marR="65577" marT="40986" marB="40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effectLst/>
                          <a:latin typeface="quote-cjk-patch"/>
                        </a:rPr>
                        <a:t>Нет</a:t>
                      </a:r>
                    </a:p>
                  </a:txBody>
                  <a:tcPr marL="65577" marR="65577" marT="40986" marB="40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effectLst/>
                          <a:latin typeface="quote-cjk-patch"/>
                        </a:rPr>
                        <a:t>Ученое звание (доцент, профессор)</a:t>
                      </a:r>
                    </a:p>
                  </a:txBody>
                  <a:tcPr marL="65577" marR="49183" marT="40986" marB="40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3364444"/>
                  </a:ext>
                </a:extLst>
              </a:tr>
              <a:tr h="519893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000" b="0">
                          <a:effectLst/>
                          <a:latin typeface="Menlo"/>
                        </a:rPr>
                        <a:t>academic_degree</a:t>
                      </a:r>
                      <a:endParaRPr lang="en-US" sz="1000" b="0">
                        <a:effectLst/>
                        <a:latin typeface="quote-cjk-patch"/>
                      </a:endParaRPr>
                    </a:p>
                  </a:txBody>
                  <a:tcPr marL="49183" marR="65577" marT="40986" marB="40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>
                          <a:effectLst/>
                          <a:latin typeface="quote-cjk-patch"/>
                        </a:rPr>
                        <a:t>varchar</a:t>
                      </a:r>
                    </a:p>
                  </a:txBody>
                  <a:tcPr marL="65577" marR="65577" marT="40986" marB="40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effectLst/>
                          <a:latin typeface="quote-cjk-patch"/>
                        </a:rPr>
                        <a:t>Нет</a:t>
                      </a:r>
                    </a:p>
                  </a:txBody>
                  <a:tcPr marL="65577" marR="65577" marT="40986" marB="40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effectLst/>
                          <a:latin typeface="quote-cjk-patch"/>
                        </a:rPr>
                        <a:t>Ученая степень (кандидат наук, доктор наук)</a:t>
                      </a:r>
                    </a:p>
                  </a:txBody>
                  <a:tcPr marL="65577" marR="49183" marT="40986" marB="40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09964"/>
                  </a:ext>
                </a:extLst>
              </a:tr>
              <a:tr h="358868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000" b="0">
                          <a:effectLst/>
                          <a:latin typeface="Menlo"/>
                        </a:rPr>
                        <a:t>email</a:t>
                      </a:r>
                      <a:endParaRPr lang="en-US" sz="1000" b="0">
                        <a:effectLst/>
                        <a:latin typeface="quote-cjk-patch"/>
                      </a:endParaRPr>
                    </a:p>
                  </a:txBody>
                  <a:tcPr marL="49183" marR="65577" marT="40986" marB="40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>
                          <a:effectLst/>
                          <a:latin typeface="quote-cjk-patch"/>
                        </a:rPr>
                        <a:t>varchar</a:t>
                      </a:r>
                    </a:p>
                  </a:txBody>
                  <a:tcPr marL="65577" marR="65577" marT="40986" marB="40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effectLst/>
                          <a:latin typeface="quote-cjk-patch"/>
                        </a:rPr>
                        <a:t>Нет</a:t>
                      </a:r>
                    </a:p>
                  </a:txBody>
                  <a:tcPr marL="65577" marR="65577" marT="40986" marB="40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effectLst/>
                          <a:latin typeface="quote-cjk-patch"/>
                        </a:rPr>
                        <a:t>Электронная почта для связи</a:t>
                      </a:r>
                    </a:p>
                  </a:txBody>
                  <a:tcPr marL="65577" marR="49183" marT="40986" marB="40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765179"/>
                  </a:ext>
                </a:extLst>
              </a:tr>
              <a:tr h="197844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000" b="0">
                          <a:effectLst/>
                          <a:latin typeface="Menlo"/>
                        </a:rPr>
                        <a:t>phone</a:t>
                      </a:r>
                      <a:endParaRPr lang="en-US" sz="1000" b="0">
                        <a:effectLst/>
                        <a:latin typeface="quote-cjk-patch"/>
                      </a:endParaRPr>
                    </a:p>
                  </a:txBody>
                  <a:tcPr marL="49183" marR="65577" marT="40986" marB="40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>
                          <a:effectLst/>
                          <a:latin typeface="quote-cjk-patch"/>
                        </a:rPr>
                        <a:t>varchar</a:t>
                      </a:r>
                    </a:p>
                  </a:txBody>
                  <a:tcPr marL="65577" marR="65577" marT="40986" marB="40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effectLst/>
                          <a:latin typeface="quote-cjk-patch"/>
                        </a:rPr>
                        <a:t>Нет</a:t>
                      </a:r>
                    </a:p>
                  </a:txBody>
                  <a:tcPr marL="65577" marR="65577" marT="40986" marB="40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effectLst/>
                          <a:latin typeface="quote-cjk-patch"/>
                        </a:rPr>
                        <a:t>Контактный телефон</a:t>
                      </a:r>
                    </a:p>
                  </a:txBody>
                  <a:tcPr marL="65577" marR="49183" marT="40986" marB="40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268098"/>
                  </a:ext>
                </a:extLst>
              </a:tr>
              <a:tr h="519893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000" b="0">
                          <a:effectLst/>
                          <a:latin typeface="Menlo"/>
                        </a:rPr>
                        <a:t>information</a:t>
                      </a:r>
                      <a:endParaRPr lang="en-US" sz="1000" b="0">
                        <a:effectLst/>
                        <a:latin typeface="quote-cjk-patch"/>
                      </a:endParaRPr>
                    </a:p>
                  </a:txBody>
                  <a:tcPr marL="49183" marR="65577" marT="40986" marB="40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>
                          <a:effectLst/>
                          <a:latin typeface="quote-cjk-patch"/>
                        </a:rPr>
                        <a:t>varchar</a:t>
                      </a:r>
                    </a:p>
                  </a:txBody>
                  <a:tcPr marL="65577" marR="65577" marT="40986" marB="40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effectLst/>
                          <a:latin typeface="quote-cjk-patch"/>
                        </a:rPr>
                        <a:t>Нет</a:t>
                      </a:r>
                    </a:p>
                  </a:txBody>
                  <a:tcPr marL="65577" marR="65577" marT="40986" marB="40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 dirty="0">
                          <a:effectLst/>
                          <a:latin typeface="quote-cjk-patch"/>
                        </a:rPr>
                        <a:t>Дополнительная информация о преподавателе</a:t>
                      </a:r>
                    </a:p>
                  </a:txBody>
                  <a:tcPr marL="65577" marR="49183" marT="40986" marB="409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783391"/>
                  </a:ext>
                </a:extLst>
              </a:tr>
            </a:tbl>
          </a:graphicData>
        </a:graphic>
      </p:graphicFrame>
      <p:pic>
        <p:nvPicPr>
          <p:cNvPr id="7" name="Рисунок 6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FC2DD8B-6E01-D02F-41D9-F932C4A6F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8488" y="2284452"/>
            <a:ext cx="1781424" cy="25149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F084F9A-4766-FBF8-25CB-9B7126D9CF4E}"/>
              </a:ext>
            </a:extLst>
          </p:cNvPr>
          <p:cNvSpPr txBox="1"/>
          <p:nvPr/>
        </p:nvSpPr>
        <p:spPr>
          <a:xfrm>
            <a:off x="7948488" y="4941261"/>
            <a:ext cx="35234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effectLst/>
                <a:latin typeface="quote-cjk-patch"/>
              </a:rPr>
              <a:t>Бизнес-назначение</a:t>
            </a:r>
            <a:r>
              <a:rPr lang="ru-RU" b="0" i="0" dirty="0">
                <a:effectLst/>
                <a:latin typeface="quote-cjk-patch"/>
              </a:rPr>
              <a:t>: Справочник преподавательского состава для назначения на дисциплины.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642320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CD3568-29FF-76F4-AE5E-CADFC5694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/>
              <a:t>Таблица </a:t>
            </a:r>
            <a:r>
              <a:rPr lang="en-US" sz="3200" dirty="0" err="1"/>
              <a:t>subsidiary_discip_curriculum</a:t>
            </a:r>
            <a:r>
              <a:rPr lang="en-US" sz="3200" dirty="0"/>
              <a:t> (</a:t>
            </a:r>
            <a:r>
              <a:rPr lang="ru-RU" sz="3200" dirty="0"/>
              <a:t>Связь дисциплин с учебными планами)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8090840B-D51A-CD4A-13CB-C26E7DDA42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571981"/>
              </p:ext>
            </p:extLst>
          </p:nvPr>
        </p:nvGraphicFramePr>
        <p:xfrm>
          <a:off x="165651" y="2658864"/>
          <a:ext cx="7918175" cy="3740177"/>
        </p:xfrm>
        <a:graphic>
          <a:graphicData uri="http://schemas.openxmlformats.org/drawingml/2006/table">
            <a:tbl>
              <a:tblPr/>
              <a:tblGrid>
                <a:gridCol w="1806574">
                  <a:extLst>
                    <a:ext uri="{9D8B030D-6E8A-4147-A177-3AD203B41FA5}">
                      <a16:colId xmlns:a16="http://schemas.microsoft.com/office/drawing/2014/main" val="422809919"/>
                    </a:ext>
                  </a:extLst>
                </a:gridCol>
                <a:gridCol w="1351443">
                  <a:extLst>
                    <a:ext uri="{9D8B030D-6E8A-4147-A177-3AD203B41FA5}">
                      <a16:colId xmlns:a16="http://schemas.microsoft.com/office/drawing/2014/main" val="2430227440"/>
                    </a:ext>
                  </a:extLst>
                </a:gridCol>
                <a:gridCol w="1521169">
                  <a:extLst>
                    <a:ext uri="{9D8B030D-6E8A-4147-A177-3AD203B41FA5}">
                      <a16:colId xmlns:a16="http://schemas.microsoft.com/office/drawing/2014/main" val="2388943619"/>
                    </a:ext>
                  </a:extLst>
                </a:gridCol>
                <a:gridCol w="3238989">
                  <a:extLst>
                    <a:ext uri="{9D8B030D-6E8A-4147-A177-3AD203B41FA5}">
                      <a16:colId xmlns:a16="http://schemas.microsoft.com/office/drawing/2014/main" val="19277385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600" b="0" dirty="0">
                          <a:effectLst/>
                          <a:latin typeface="quote-cjk-patch"/>
                        </a:rPr>
                        <a:t>Поле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600" b="0" dirty="0">
                          <a:effectLst/>
                          <a:latin typeface="quote-cjk-patch"/>
                        </a:rPr>
                        <a:t>Тип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600" b="0" dirty="0">
                          <a:effectLst/>
                          <a:latin typeface="quote-cjk-patch"/>
                        </a:rPr>
                        <a:t>Обязательное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600" b="0" dirty="0">
                          <a:effectLst/>
                          <a:latin typeface="quote-cjk-patch"/>
                        </a:rPr>
                        <a:t>Бизнес-значение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00484"/>
                  </a:ext>
                </a:extLst>
              </a:tr>
              <a:tr h="49121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600" b="0" dirty="0">
                          <a:effectLst/>
                          <a:latin typeface="Menlo"/>
                        </a:rPr>
                        <a:t>id</a:t>
                      </a:r>
                      <a:endParaRPr lang="en-US" sz="1600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 dirty="0" err="1">
                          <a:effectLst/>
                          <a:latin typeface="quote-cjk-patch"/>
                        </a:rPr>
                        <a:t>bigserial</a:t>
                      </a:r>
                      <a:endParaRPr lang="en-US" sz="1600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>
                          <a:effectLst/>
                          <a:latin typeface="quote-cjk-patch"/>
                        </a:rPr>
                        <a:t>Да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>
                          <a:effectLst/>
                          <a:latin typeface="quote-cjk-patch"/>
                        </a:rPr>
                        <a:t>Уникальный </a:t>
                      </a:r>
                      <a:r>
                        <a:rPr lang="en-US" sz="1600" b="0">
                          <a:effectLst/>
                          <a:latin typeface="quote-cjk-patch"/>
                        </a:rPr>
                        <a:t>ID </a:t>
                      </a:r>
                      <a:r>
                        <a:rPr lang="ru-RU" sz="1600" b="0">
                          <a:effectLst/>
                          <a:latin typeface="quote-cjk-patch"/>
                        </a:rPr>
                        <a:t>связи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6418184"/>
                  </a:ext>
                </a:extLst>
              </a:tr>
              <a:tr h="677869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Menlo"/>
                        </a:rPr>
                        <a:t>discipline_id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 dirty="0" err="1">
                          <a:effectLst/>
                          <a:latin typeface="quote-cjk-patch"/>
                        </a:rPr>
                        <a:t>bigint</a:t>
                      </a:r>
                      <a:endParaRPr lang="en-US" sz="1600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 dirty="0">
                          <a:effectLst/>
                          <a:latin typeface="quote-cjk-patch"/>
                        </a:rPr>
                        <a:t>Да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>
                          <a:effectLst/>
                          <a:latin typeface="quote-cjk-patch"/>
                        </a:rPr>
                        <a:t>Ссылка на дисциплину (внешний ключ)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2223478"/>
                  </a:ext>
                </a:extLst>
              </a:tr>
              <a:tr h="677869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Menlo"/>
                        </a:rPr>
                        <a:t>curriculum_id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quote-cjk-patch"/>
                        </a:rPr>
                        <a:t>bigint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 dirty="0">
                          <a:effectLst/>
                          <a:latin typeface="quote-cjk-patch"/>
                        </a:rPr>
                        <a:t>Да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 dirty="0">
                          <a:effectLst/>
                          <a:latin typeface="quote-cjk-patch"/>
                        </a:rPr>
                        <a:t>Ссылка на учебный план (внешний ключ)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267464"/>
                  </a:ext>
                </a:extLst>
              </a:tr>
              <a:tr h="864529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Menlo"/>
                        </a:rPr>
                        <a:t>term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quote-cjk-patch"/>
                        </a:rPr>
                        <a:t>integer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 dirty="0">
                          <a:effectLst/>
                          <a:latin typeface="quote-cjk-patch"/>
                        </a:rPr>
                        <a:t>Да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 dirty="0">
                          <a:effectLst/>
                          <a:latin typeface="quote-cjk-patch"/>
                        </a:rPr>
                        <a:t>Семестр, в котором изучается дисциплина (1 или 2)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809637"/>
                  </a:ext>
                </a:extLst>
              </a:tr>
              <a:tr h="49121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Menlo"/>
                        </a:rPr>
                        <a:t>term_hours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quote-cjk-patch"/>
                        </a:rPr>
                        <a:t>integer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>
                          <a:effectLst/>
                          <a:latin typeface="quote-cjk-patch"/>
                        </a:rPr>
                        <a:t>Нет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 dirty="0">
                          <a:effectLst/>
                          <a:latin typeface="quote-cjk-patch"/>
                        </a:rPr>
                        <a:t>Количество часов в данном семестре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874957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D0CF592-9F04-6FCC-7D9B-FFCB9888DB72}"/>
              </a:ext>
            </a:extLst>
          </p:cNvPr>
          <p:cNvSpPr txBox="1"/>
          <p:nvPr/>
        </p:nvSpPr>
        <p:spPr>
          <a:xfrm>
            <a:off x="8562640" y="4351539"/>
            <a:ext cx="32517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effectLst/>
                <a:latin typeface="quote-cjk-patch"/>
              </a:rPr>
              <a:t>Бизнес-назначение</a:t>
            </a:r>
            <a:r>
              <a:rPr lang="ru-RU" b="0" i="0" dirty="0">
                <a:effectLst/>
                <a:latin typeface="quote-cjk-patch"/>
              </a:rPr>
              <a:t>: Определяет, какие дисциплины входят в учебный план и в каком семестре они изучаются.</a:t>
            </a:r>
            <a:endParaRPr lang="ru-RU" dirty="0"/>
          </a:p>
        </p:txBody>
      </p:sp>
      <p:pic>
        <p:nvPicPr>
          <p:cNvPr id="10" name="Рисунок 9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0953362-C73A-9E5A-3799-3224DCC08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2640" y="2658864"/>
            <a:ext cx="2010056" cy="148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8188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D02D50-A63A-E5B0-A3E7-CBBE06995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447188"/>
            <a:ext cx="10571998" cy="970450"/>
          </a:xfrm>
        </p:spPr>
        <p:txBody>
          <a:bodyPr/>
          <a:lstStyle/>
          <a:p>
            <a:r>
              <a:rPr lang="ru-RU" sz="3200" dirty="0"/>
              <a:t>Таблица </a:t>
            </a:r>
            <a:r>
              <a:rPr lang="ru-RU" sz="3200" dirty="0" err="1"/>
              <a:t>subsidiary_discip_teacher</a:t>
            </a:r>
            <a:r>
              <a:rPr lang="ru-RU" sz="3200" dirty="0"/>
              <a:t> (Назначение преподавателей на дисциплины)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81CF50B2-D8F7-55FB-2D2A-69CEA7E9CC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1079024"/>
              </p:ext>
            </p:extLst>
          </p:nvPr>
        </p:nvGraphicFramePr>
        <p:xfrm>
          <a:off x="370120" y="2344141"/>
          <a:ext cx="6885447" cy="4066671"/>
        </p:xfrm>
        <a:graphic>
          <a:graphicData uri="http://schemas.openxmlformats.org/drawingml/2006/table">
            <a:tbl>
              <a:tblPr/>
              <a:tblGrid>
                <a:gridCol w="1570952">
                  <a:extLst>
                    <a:ext uri="{9D8B030D-6E8A-4147-A177-3AD203B41FA5}">
                      <a16:colId xmlns:a16="http://schemas.microsoft.com/office/drawing/2014/main" val="3115794717"/>
                    </a:ext>
                  </a:extLst>
                </a:gridCol>
                <a:gridCol w="1156846">
                  <a:extLst>
                    <a:ext uri="{9D8B030D-6E8A-4147-A177-3AD203B41FA5}">
                      <a16:colId xmlns:a16="http://schemas.microsoft.com/office/drawing/2014/main" val="3565537673"/>
                    </a:ext>
                  </a:extLst>
                </a:gridCol>
                <a:gridCol w="1430721">
                  <a:extLst>
                    <a:ext uri="{9D8B030D-6E8A-4147-A177-3AD203B41FA5}">
                      <a16:colId xmlns:a16="http://schemas.microsoft.com/office/drawing/2014/main" val="4221299001"/>
                    </a:ext>
                  </a:extLst>
                </a:gridCol>
                <a:gridCol w="2726928">
                  <a:extLst>
                    <a:ext uri="{9D8B030D-6E8A-4147-A177-3AD203B41FA5}">
                      <a16:colId xmlns:a16="http://schemas.microsoft.com/office/drawing/2014/main" val="3255764200"/>
                    </a:ext>
                  </a:extLst>
                </a:gridCol>
              </a:tblGrid>
              <a:tr h="300298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500" b="0" dirty="0">
                          <a:effectLst/>
                          <a:latin typeface="quote-cjk-patch"/>
                        </a:rPr>
                        <a:t>Поле</a:t>
                      </a:r>
                    </a:p>
                  </a:txBody>
                  <a:tcPr marL="78285" marR="104380" marT="65238" marB="652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500" b="0" dirty="0">
                          <a:effectLst/>
                          <a:latin typeface="quote-cjk-patch"/>
                        </a:rPr>
                        <a:t>Тип</a:t>
                      </a:r>
                    </a:p>
                  </a:txBody>
                  <a:tcPr marL="104380" marR="104380" marT="65238" marB="652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500" b="0" dirty="0">
                          <a:effectLst/>
                          <a:latin typeface="quote-cjk-patch"/>
                        </a:rPr>
                        <a:t>Обязательное</a:t>
                      </a:r>
                    </a:p>
                  </a:txBody>
                  <a:tcPr marL="104380" marR="104380" marT="65238" marB="652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500" b="0" dirty="0">
                          <a:effectLst/>
                          <a:latin typeface="quote-cjk-patch"/>
                        </a:rPr>
                        <a:t>Бизнес-значение</a:t>
                      </a:r>
                    </a:p>
                  </a:txBody>
                  <a:tcPr marL="104380" marR="104380" marT="65238" marB="652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533442"/>
                  </a:ext>
                </a:extLst>
              </a:tr>
              <a:tr h="50061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500" b="0">
                          <a:effectLst/>
                          <a:latin typeface="Menlo"/>
                        </a:rPr>
                        <a:t>id</a:t>
                      </a:r>
                      <a:endParaRPr lang="en-US" sz="1500" b="0">
                        <a:effectLst/>
                        <a:latin typeface="quote-cjk-patch"/>
                      </a:endParaRPr>
                    </a:p>
                  </a:txBody>
                  <a:tcPr marL="78285" marR="104380" marT="65238" marB="652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dirty="0" err="1">
                          <a:effectLst/>
                          <a:latin typeface="quote-cjk-patch"/>
                        </a:rPr>
                        <a:t>bigserial</a:t>
                      </a:r>
                      <a:endParaRPr lang="en-US" sz="1500" b="0" dirty="0">
                        <a:effectLst/>
                        <a:latin typeface="quote-cjk-patch"/>
                      </a:endParaRPr>
                    </a:p>
                  </a:txBody>
                  <a:tcPr marL="104380" marR="104380" marT="65238" marB="652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>
                          <a:effectLst/>
                          <a:latin typeface="quote-cjk-patch"/>
                        </a:rPr>
                        <a:t>Да</a:t>
                      </a:r>
                    </a:p>
                  </a:txBody>
                  <a:tcPr marL="104380" marR="104380" marT="65238" marB="652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 dirty="0">
                          <a:effectLst/>
                          <a:latin typeface="quote-cjk-patch"/>
                        </a:rPr>
                        <a:t>Уникальный </a:t>
                      </a:r>
                      <a:r>
                        <a:rPr lang="en-US" sz="1500" b="0" dirty="0">
                          <a:effectLst/>
                          <a:latin typeface="quote-cjk-patch"/>
                        </a:rPr>
                        <a:t>ID </a:t>
                      </a:r>
                      <a:r>
                        <a:rPr lang="ru-RU" sz="1500" b="0" dirty="0">
                          <a:effectLst/>
                          <a:latin typeface="quote-cjk-patch"/>
                        </a:rPr>
                        <a:t>назначения</a:t>
                      </a:r>
                    </a:p>
                  </a:txBody>
                  <a:tcPr marL="104380" marR="78285" marT="65238" marB="652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9560808"/>
                  </a:ext>
                </a:extLst>
              </a:tr>
              <a:tr h="901236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500" b="0">
                          <a:effectLst/>
                          <a:latin typeface="Menlo"/>
                        </a:rPr>
                        <a:t>sdc_id</a:t>
                      </a:r>
                      <a:endParaRPr lang="en-US" sz="1500" b="0">
                        <a:effectLst/>
                        <a:latin typeface="quote-cjk-patch"/>
                      </a:endParaRPr>
                    </a:p>
                  </a:txBody>
                  <a:tcPr marL="78285" marR="104380" marT="65238" marB="652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>
                          <a:effectLst/>
                          <a:latin typeface="quote-cjk-patch"/>
                        </a:rPr>
                        <a:t>bigint</a:t>
                      </a:r>
                    </a:p>
                  </a:txBody>
                  <a:tcPr marL="104380" marR="104380" marT="65238" marB="652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 dirty="0">
                          <a:effectLst/>
                          <a:latin typeface="quote-cjk-patch"/>
                        </a:rPr>
                        <a:t>Да</a:t>
                      </a:r>
                    </a:p>
                  </a:txBody>
                  <a:tcPr marL="104380" marR="104380" marT="65238" marB="652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 dirty="0">
                          <a:effectLst/>
                          <a:latin typeface="quote-cjk-patch"/>
                        </a:rPr>
                        <a:t>Ссылка на связь дисциплины с планом (внешний ключ)</a:t>
                      </a:r>
                    </a:p>
                  </a:txBody>
                  <a:tcPr marL="104380" marR="78285" marT="65238" marB="652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002549"/>
                  </a:ext>
                </a:extLst>
              </a:tr>
              <a:tr h="700923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500" b="0">
                          <a:effectLst/>
                          <a:latin typeface="Menlo"/>
                        </a:rPr>
                        <a:t>teacher_id</a:t>
                      </a:r>
                      <a:endParaRPr lang="en-US" sz="1500" b="0">
                        <a:effectLst/>
                        <a:latin typeface="quote-cjk-patch"/>
                      </a:endParaRPr>
                    </a:p>
                  </a:txBody>
                  <a:tcPr marL="78285" marR="104380" marT="65238" marB="652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>
                          <a:effectLst/>
                          <a:latin typeface="quote-cjk-patch"/>
                        </a:rPr>
                        <a:t>bigint</a:t>
                      </a:r>
                    </a:p>
                  </a:txBody>
                  <a:tcPr marL="104380" marR="104380" marT="65238" marB="652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>
                          <a:effectLst/>
                          <a:latin typeface="quote-cjk-patch"/>
                        </a:rPr>
                        <a:t>Да</a:t>
                      </a:r>
                    </a:p>
                  </a:txBody>
                  <a:tcPr marL="104380" marR="104380" marT="65238" marB="652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 dirty="0">
                          <a:effectLst/>
                          <a:latin typeface="quote-cjk-patch"/>
                        </a:rPr>
                        <a:t>Ссылка на преподавателя (внешний ключ)</a:t>
                      </a:r>
                    </a:p>
                  </a:txBody>
                  <a:tcPr marL="104380" marR="78285" marT="65238" marB="652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537940"/>
                  </a:ext>
                </a:extLst>
              </a:tr>
              <a:tr h="700923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500" b="0">
                          <a:effectLst/>
                          <a:latin typeface="Menlo"/>
                        </a:rPr>
                        <a:t>teacher_role</a:t>
                      </a:r>
                      <a:endParaRPr lang="en-US" sz="1500" b="0">
                        <a:effectLst/>
                        <a:latin typeface="quote-cjk-patch"/>
                      </a:endParaRPr>
                    </a:p>
                  </a:txBody>
                  <a:tcPr marL="78285" marR="104380" marT="65238" marB="652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>
                          <a:effectLst/>
                          <a:latin typeface="quote-cjk-patch"/>
                        </a:rPr>
                        <a:t>varchar</a:t>
                      </a:r>
                    </a:p>
                  </a:txBody>
                  <a:tcPr marL="104380" marR="104380" marT="65238" marB="652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>
                          <a:effectLst/>
                          <a:latin typeface="quote-cjk-patch"/>
                        </a:rPr>
                        <a:t>Нет</a:t>
                      </a:r>
                    </a:p>
                  </a:txBody>
                  <a:tcPr marL="104380" marR="104380" marT="65238" marB="652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 dirty="0">
                          <a:effectLst/>
                          <a:latin typeface="quote-cjk-patch"/>
                        </a:rPr>
                        <a:t>Роль преподавателя: "лектор", "практик", "руководитель"</a:t>
                      </a:r>
                    </a:p>
                  </a:txBody>
                  <a:tcPr marL="104380" marR="78285" marT="65238" marB="652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6671081"/>
                  </a:ext>
                </a:extLst>
              </a:tr>
              <a:tr h="901236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500" b="0">
                          <a:effectLst/>
                          <a:latin typeface="Menlo"/>
                        </a:rPr>
                        <a:t>hours_assigned</a:t>
                      </a:r>
                      <a:endParaRPr lang="en-US" sz="1500" b="0">
                        <a:effectLst/>
                        <a:latin typeface="quote-cjk-patch"/>
                      </a:endParaRPr>
                    </a:p>
                  </a:txBody>
                  <a:tcPr marL="78285" marR="104380" marT="65238" marB="652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>
                          <a:effectLst/>
                          <a:latin typeface="quote-cjk-patch"/>
                        </a:rPr>
                        <a:t>integer</a:t>
                      </a:r>
                    </a:p>
                  </a:txBody>
                  <a:tcPr marL="104380" marR="104380" marT="65238" marB="652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>
                          <a:effectLst/>
                          <a:latin typeface="quote-cjk-patch"/>
                        </a:rPr>
                        <a:t>Нет</a:t>
                      </a:r>
                    </a:p>
                  </a:txBody>
                  <a:tcPr marL="104380" marR="104380" marT="65238" marB="652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 dirty="0">
                          <a:effectLst/>
                          <a:latin typeface="quote-cjk-patch"/>
                        </a:rPr>
                        <a:t>Количество часов, назначенных данному преподавателю</a:t>
                      </a:r>
                    </a:p>
                  </a:txBody>
                  <a:tcPr marL="104380" marR="78285" marT="65238" marB="652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7492287"/>
                  </a:ext>
                </a:extLst>
              </a:tr>
            </a:tbl>
          </a:graphicData>
        </a:graphic>
      </p:graphicFrame>
      <p:pic>
        <p:nvPicPr>
          <p:cNvPr id="9" name="Рисунок 8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F7B516C-E83A-8935-C7E3-99499863B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0" y="2344141"/>
            <a:ext cx="1838582" cy="14861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F44D83A-9268-D2E0-7DDB-0F5186C48605}"/>
              </a:ext>
            </a:extLst>
          </p:cNvPr>
          <p:cNvSpPr txBox="1"/>
          <p:nvPr/>
        </p:nvSpPr>
        <p:spPr>
          <a:xfrm>
            <a:off x="8077200" y="4081167"/>
            <a:ext cx="40270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effectLst/>
                <a:latin typeface="quote-cjk-patch"/>
              </a:rPr>
              <a:t>Бизнес-назначение</a:t>
            </a:r>
            <a:r>
              <a:rPr lang="ru-RU" b="0" i="0" dirty="0">
                <a:effectLst/>
                <a:latin typeface="quote-cjk-patch"/>
              </a:rPr>
              <a:t>: Определяет, какие преподаватели ведут конкретную дисциплину в рамках учебного плана и их роли.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2537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13F1EC-1517-DB1B-0195-FF2EC98D0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/>
              <a:t>Таблица </a:t>
            </a:r>
            <a:r>
              <a:rPr lang="en-US" sz="3200" dirty="0" err="1"/>
              <a:t>curriculum_files</a:t>
            </a:r>
            <a:r>
              <a:rPr lang="en-US" sz="3200" dirty="0"/>
              <a:t> (</a:t>
            </a:r>
            <a:r>
              <a:rPr lang="ru-RU" sz="3200" dirty="0"/>
              <a:t>Файлы учебных планов)</a:t>
            </a:r>
          </a:p>
        </p:txBody>
      </p:sp>
      <p:pic>
        <p:nvPicPr>
          <p:cNvPr id="5" name="Рисунок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363996C-9FD1-4237-DEAB-DF596DF8A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1462" y="2461592"/>
            <a:ext cx="1781424" cy="1457528"/>
          </a:xfrm>
          <a:prstGeom prst="rect">
            <a:avLst/>
          </a:prstGeom>
        </p:spPr>
      </p:pic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5D6F01AC-65FA-A8DD-99D3-6E2AC5071E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99958"/>
              </p:ext>
            </p:extLst>
          </p:nvPr>
        </p:nvGraphicFramePr>
        <p:xfrm>
          <a:off x="160270" y="2461592"/>
          <a:ext cx="8075956" cy="3402496"/>
        </p:xfrm>
        <a:graphic>
          <a:graphicData uri="http://schemas.openxmlformats.org/drawingml/2006/table">
            <a:tbl>
              <a:tblPr/>
              <a:tblGrid>
                <a:gridCol w="1246046">
                  <a:extLst>
                    <a:ext uri="{9D8B030D-6E8A-4147-A177-3AD203B41FA5}">
                      <a16:colId xmlns:a16="http://schemas.microsoft.com/office/drawing/2014/main" val="4099919602"/>
                    </a:ext>
                  </a:extLst>
                </a:gridCol>
                <a:gridCol w="1082432">
                  <a:extLst>
                    <a:ext uri="{9D8B030D-6E8A-4147-A177-3AD203B41FA5}">
                      <a16:colId xmlns:a16="http://schemas.microsoft.com/office/drawing/2014/main" val="1077057358"/>
                    </a:ext>
                  </a:extLst>
                </a:gridCol>
                <a:gridCol w="1641296">
                  <a:extLst>
                    <a:ext uri="{9D8B030D-6E8A-4147-A177-3AD203B41FA5}">
                      <a16:colId xmlns:a16="http://schemas.microsoft.com/office/drawing/2014/main" val="2662538103"/>
                    </a:ext>
                  </a:extLst>
                </a:gridCol>
                <a:gridCol w="4106182">
                  <a:extLst>
                    <a:ext uri="{9D8B030D-6E8A-4147-A177-3AD203B41FA5}">
                      <a16:colId xmlns:a16="http://schemas.microsoft.com/office/drawing/2014/main" val="2904456605"/>
                    </a:ext>
                  </a:extLst>
                </a:gridCol>
              </a:tblGrid>
              <a:tr h="39018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Поле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Тип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Обязательное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Бизнес-значение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213253"/>
                  </a:ext>
                </a:extLst>
              </a:tr>
              <a:tr h="39018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Menlo"/>
                        </a:rPr>
                        <a:t>file_id</a:t>
                      </a:r>
                      <a:endParaRPr lang="en-US" sz="14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quote-cjk-patch"/>
                        </a:rPr>
                        <a:t>bigserial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Да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Уникальный </a:t>
                      </a:r>
                      <a:r>
                        <a:rPr lang="en-US" sz="1400" b="0" dirty="0">
                          <a:effectLst/>
                          <a:latin typeface="quote-cjk-patch"/>
                        </a:rPr>
                        <a:t>ID </a:t>
                      </a:r>
                      <a:r>
                        <a:rPr lang="ru-RU" sz="1400" b="0" dirty="0">
                          <a:effectLst/>
                          <a:latin typeface="quote-cjk-patch"/>
                        </a:rPr>
                        <a:t>файла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9945347"/>
                  </a:ext>
                </a:extLst>
              </a:tr>
              <a:tr h="592143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Menlo"/>
                        </a:rPr>
                        <a:t>curriculum_id</a:t>
                      </a:r>
                      <a:endParaRPr lang="en-US" sz="14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quote-cjk-patch"/>
                        </a:rPr>
                        <a:t>bigint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Да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Ссылка на учебный план (внешний ключ)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0077282"/>
                  </a:ext>
                </a:extLst>
              </a:tr>
              <a:tr h="53594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Menlo"/>
                        </a:rPr>
                        <a:t>file_name</a:t>
                      </a:r>
                      <a:endParaRPr lang="en-US" sz="14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quote-cjk-patch"/>
                        </a:rPr>
                        <a:t>varchar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Да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Имя файла с расширением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1325492"/>
                  </a:ext>
                </a:extLst>
              </a:tr>
              <a:tr h="53594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Menlo"/>
                        </a:rPr>
                        <a:t>file_path</a:t>
                      </a:r>
                      <a:endParaRPr lang="en-US" sz="14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quote-cjk-patch"/>
                        </a:rPr>
                        <a:t>varchar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Да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Путь к файлу в файловой системе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767065"/>
                  </a:ext>
                </a:extLst>
              </a:tr>
              <a:tr h="958113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Menlo"/>
                        </a:rPr>
                        <a:t>file_type</a:t>
                      </a:r>
                      <a:endParaRPr lang="en-US" sz="14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quote-cjk-patch"/>
                        </a:rPr>
                        <a:t>varchar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Нет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Тип файла: "</a:t>
                      </a:r>
                      <a:r>
                        <a:rPr lang="en-US" sz="1400" b="0" dirty="0">
                          <a:effectLst/>
                          <a:latin typeface="quote-cjk-patch"/>
                        </a:rPr>
                        <a:t>pdf", "docx", "xlsx"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491152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79A3636-579A-4DE1-C705-09B7E0D4A3E8}"/>
              </a:ext>
            </a:extLst>
          </p:cNvPr>
          <p:cNvSpPr txBox="1"/>
          <p:nvPr/>
        </p:nvSpPr>
        <p:spPr>
          <a:xfrm>
            <a:off x="8551462" y="4322505"/>
            <a:ext cx="34460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effectLst/>
                <a:latin typeface="quote-cjk-patch"/>
              </a:rPr>
              <a:t>Бизнес-назначение</a:t>
            </a:r>
            <a:r>
              <a:rPr lang="ru-RU" b="0" i="0" dirty="0">
                <a:effectLst/>
                <a:latin typeface="quote-cjk-patch"/>
              </a:rPr>
              <a:t>: Хранение информации о прикрепленных файлах к учебным планам.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217544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6C104B-E7FD-4555-9F01-2CEE3731E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Артефакты разработки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5961F5-92F3-6F8F-A514-80CE2ECB2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Дизайн - </a:t>
            </a:r>
          </a:p>
          <a:p>
            <a:pPr marL="0" indent="0">
              <a:buNone/>
            </a:pPr>
            <a:r>
              <a:rPr lang="ru-RU" dirty="0"/>
              <a:t>Фронт - </a:t>
            </a:r>
          </a:p>
          <a:p>
            <a:pPr marL="0" indent="0">
              <a:buNone/>
            </a:pPr>
            <a:r>
              <a:rPr lang="ru-RU" dirty="0"/>
              <a:t>Бек - </a:t>
            </a:r>
            <a:r>
              <a:rPr lang="en-US" dirty="0"/>
              <a:t>https://github.com/SAFE9HOUSE/Curriculum_Web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Тестировщик - </a:t>
            </a:r>
          </a:p>
          <a:p>
            <a:pPr marL="0" indent="0">
              <a:buNone/>
            </a:pPr>
            <a:r>
              <a:rPr lang="ru-RU" dirty="0"/>
              <a:t>Аналитик - </a:t>
            </a:r>
          </a:p>
        </p:txBody>
      </p:sp>
    </p:spTree>
    <p:extLst>
      <p:ext uri="{BB962C8B-B14F-4D97-AF65-F5344CB8AC3E}">
        <p14:creationId xmlns:p14="http://schemas.microsoft.com/office/powerpoint/2010/main" val="17769669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885325-1E33-74A6-ADA1-181F5B6C6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Заключение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C2396C-D09B-5981-FFA4-211FEDABA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Система обеспечит автоматизацию учёта учебных планов</a:t>
            </a:r>
          </a:p>
          <a:p>
            <a:r>
              <a:rPr lang="ru-RU" dirty="0"/>
              <a:t>Чёткое разделение ролей и функционала</a:t>
            </a:r>
          </a:p>
          <a:p>
            <a:r>
              <a:rPr lang="ru-RU" dirty="0"/>
              <a:t>Современный технологический стек</a:t>
            </a:r>
          </a:p>
          <a:p>
            <a:r>
              <a:rPr lang="ru-RU" dirty="0"/>
              <a:t>Гибкость в настройке и развёртывании</a:t>
            </a:r>
          </a:p>
          <a:p>
            <a:pPr marL="0" indent="0">
              <a:buNone/>
            </a:pP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02200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Цитаты">
  <a:themeElements>
    <a:clrScheme name="Цитаты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Цитаты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Цитаты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TM03457503[[fn=Цитаты]]</Template>
  <TotalTime>92</TotalTime>
  <Words>1523</Words>
  <Application>Microsoft Office PowerPoint</Application>
  <PresentationFormat>Широкоэкранный</PresentationFormat>
  <Paragraphs>398</Paragraphs>
  <Slides>30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6" baseType="lpstr">
      <vt:lpstr>Arial</vt:lpstr>
      <vt:lpstr>Century Gothic</vt:lpstr>
      <vt:lpstr>Menlo</vt:lpstr>
      <vt:lpstr>quote-cjk-patch</vt:lpstr>
      <vt:lpstr>Wingdings 2</vt:lpstr>
      <vt:lpstr>Цитаты</vt:lpstr>
      <vt:lpstr>Система учёта курсов и учебных планов</vt:lpstr>
      <vt:lpstr>Цели и задачи проекта</vt:lpstr>
      <vt:lpstr>Задачи проекта</vt:lpstr>
      <vt:lpstr>Роли пользователей</vt:lpstr>
      <vt:lpstr>Основные функциональные требования </vt:lpstr>
      <vt:lpstr>Фронт</vt:lpstr>
      <vt:lpstr>Бек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Тестировщик</vt:lpstr>
      <vt:lpstr>Описание схемы базы данных системы управления учебными планами</vt:lpstr>
      <vt:lpstr>База данных </vt:lpstr>
      <vt:lpstr>Таблица admins (Администраторы системы)</vt:lpstr>
      <vt:lpstr>Таблица field_of_study (Направления подготовки)</vt:lpstr>
      <vt:lpstr>Таблица curriculum (Учебные планы) </vt:lpstr>
      <vt:lpstr>Таблица discipline (Дисциплины) </vt:lpstr>
      <vt:lpstr>Таблица teacher (Преподаватели) </vt:lpstr>
      <vt:lpstr>Таблица subsidiary_discip_curriculum (Связь дисциплин с учебными планами)</vt:lpstr>
      <vt:lpstr>Таблица subsidiary_discip_teacher (Назначение преподавателей на дисциплины)</vt:lpstr>
      <vt:lpstr>Таблица curriculum_files (Файлы учебных планов)</vt:lpstr>
      <vt:lpstr>Артефакты разработки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Тиханов</dc:creator>
  <cp:lastModifiedBy>Алексей Тиханов</cp:lastModifiedBy>
  <cp:revision>5</cp:revision>
  <dcterms:created xsi:type="dcterms:W3CDTF">2025-12-23T19:51:08Z</dcterms:created>
  <dcterms:modified xsi:type="dcterms:W3CDTF">2025-12-23T21:24:02Z</dcterms:modified>
</cp:coreProperties>
</file>